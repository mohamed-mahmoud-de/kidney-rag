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913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Introduce team name, project name. Say the tagline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one sentence: medical AI hallucinates, and it hallucinates confidently. Three failure modes — dosage, citation, refusal.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this isn't a coding problem, it's a patient-safety problem. Three data points make it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CKD: prevalence is huge, the domain is number-heavy, and the guidelines are free. All three are perfect for demonstrating grounded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Diabetes in CKD is where the two guidelines conflict, overlap, or evolve fastest — perfect stress test for our multi-source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concrete user personas. Emphasize that the market is real and the timing is now — EHR-AI integration mandates are accelerating.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one-line pitch. Then walk left to right through the four-step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of guidelines. Emphasize: real chunks, real page numbers, real URLs. Every citation is programmatically verifiable.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Three-column stack view. Left is data plumbing, middle is safety, right is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measured improvement. MedEmbed beat the general-purpose model by 14 percentage points on our set — biggest single design win of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 is a code path, not a prompt suggestion. Refusal is guaranteed for out-of-scope questions — the LLM is never even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this is what makes Kidney-RAG different. Not just retrieval quality — we score every claim in the ANSWER against the EVIDENCE. Faithfulness = 1.0 in our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story judges remember. Live demo can't be killed by a rate limit. Show /health in the demo — see per-key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judges will screenshot. Three headline numbers up top — 100% faithfulness, 100% citation accuracy, 86.7% Hit@5. Then the supporting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browser. Run all three queries live. Show the confidence badge, the citation chip, and the /api/stats endpoint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team credit — walk through the four days, then the code count. Show it was systematic, not a scramble.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Emphasize that the safety layer we built is domain-independent — cardiology / endocrinology unlock on the same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judges. Take questions. Have the /health endpoint open in a tab for the resilience question that will 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3A9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R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365760" cy="0"/>
          </a:xfrm>
          <a:prstGeom prst="line">
            <a:avLst/>
          </a:prstGeom>
          <a:noFill/>
          <a:ln w="19050">
            <a:solidFill>
              <a:srgbClr val="03A9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0"/>
            <a:ext cx="1143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Kidney-RAG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3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cited, safety-scored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3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answers for chronic kidney disease.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852160"/>
            <a:ext cx="2743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Creativa × Orange AI Hackathon  ·  August 2026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8F42AA-A20B-C09D-447C-16A503988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56"/>
            <a:ext cx="12282545" cy="68755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863851-6AA6-5B15-A068-A820B9C80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658" y="-44245"/>
            <a:ext cx="12401755" cy="6975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fluent answer is not a safe answer.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trained on the open web produce medical text that sounds authoritative — even when it's wrong. Doctors under time pressure trust the fluent output. Patients pay the price.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977640"/>
            <a:ext cx="640080" cy="6400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Hallucinated dosages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166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wrong drug thresholds — no way for a busy clinician to catch.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6576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3977640"/>
            <a:ext cx="640080" cy="6400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26280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citations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5166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'general medical knowledge' — untraceable, unverifiable.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36576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3977640"/>
            <a:ext cx="640080" cy="6400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21040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refusal path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1040" y="5166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always answer. There is no 'I don't know' in the training data.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stakes are clinical, not academic.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669280" cy="4297680"/>
          </a:xfrm>
          <a:prstGeom prst="roundRect">
            <a:avLst>
              <a:gd name="adj" fmla="val 3191"/>
            </a:avLst>
          </a:prstGeom>
          <a:solidFill>
            <a:srgbClr val="051828"/>
          </a:solidFill>
          <a:ln w="12700">
            <a:solidFill>
              <a:srgbClr val="051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03A9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wrong drug threshold whispered with confidence can send a patient into hyperkalemia.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clinical assistant that guesses is a clinical liability.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486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Design principle for Kidney-RAG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737360"/>
            <a:ext cx="5029200" cy="132588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87452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10M+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503920" y="18745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medication errors in the US alone (IOM estimate)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3200400"/>
            <a:ext cx="5029200" cy="132588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33375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503920" y="33375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clinicians already trust AI-generated summaries without verification (JAMA 2024)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4663440"/>
            <a:ext cx="5029200" cy="132588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48006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503920" y="4800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rate of unsupported claims in a clinical decision support tool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chronic kidney disease?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 is the ideal first vertical for grounded clinical AI: high global prevalence, treatment-critical numeric thresholds, and a mature, publicly available guideline corpus.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37560"/>
            <a:ext cx="2514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94360" y="453542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adults globally have CKD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310896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337560"/>
            <a:ext cx="2514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7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429000" y="453542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in the US — often undiagnosed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10896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337560"/>
            <a:ext cx="2514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eGFR&lt;15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263640" y="453542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failure threshold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matters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310896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3337560"/>
            <a:ext cx="2514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098280" y="453542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guidelines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free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5577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 progression is defined by discrete numeric cutoffs (eGFR, ACR categories A1/A2/A3). A grounded RAG succeeds or fails on getting those numbers right — the perfect test case for a system built around 'no unsupported claims'.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COMORBIDITY FOCUS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include diabetes-in-CKD as a subtopic?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577840" cy="4480560"/>
          </a:xfrm>
          <a:prstGeom prst="roundRect">
            <a:avLst>
              <a:gd name="adj" fmla="val 3061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overlap is medical reality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40% of adults with type-2 diabetes eventually develop CKD.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Almost every CKD treatment decision references diabetes status.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SGLT2 inhibitors, GLP-1 agonists, and finerenone straddle both guidelines.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800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Getting the intersection right is what a clinician actually needs.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5394960" cy="4480560"/>
          </a:xfrm>
          <a:prstGeom prst="roundRect">
            <a:avLst>
              <a:gd name="adj" fmla="val 3061"/>
            </a:avLst>
          </a:prstGeom>
          <a:solidFill>
            <a:srgbClr val="051828"/>
          </a:solidFill>
          <a:ln w="12700">
            <a:solidFill>
              <a:srgbClr val="051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guidelines overlap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2743200"/>
            <a:ext cx="2926080" cy="2926080"/>
          </a:xfrm>
          <a:prstGeom prst="ellipse">
            <a:avLst/>
          </a:prstGeom>
          <a:solidFill>
            <a:srgbClr val="028090">
              <a:alpha val="70000"/>
            </a:srgbClr>
          </a:solidFill>
          <a:ln w="19050">
            <a:solidFill>
              <a:srgbClr val="03A9A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743200"/>
            <a:ext cx="2926080" cy="2926080"/>
          </a:xfrm>
          <a:prstGeom prst="ellipse">
            <a:avLst/>
          </a:prstGeom>
          <a:solidFill>
            <a:srgbClr val="02C39A">
              <a:alpha val="7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KDIGO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 CKD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1832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KDIGO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 DM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0" y="36576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SGLT2i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GLP-1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5806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3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CKD-diabetes question sits in the overlap.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needs this product?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0116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Primary-care clinicians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6060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fast, cited answers between appointments. Won't leave the EHR to Google.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20116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trainees &amp; residents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8040" y="26060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guideline nuance. Need a citation-first source that reinforces good habits.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1605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Nurse practitioners (CKD-focused)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7548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follow-up. Need to check thresholds and dosing at point of care.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88620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41605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41605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IT / compliance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47548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out AI. Need a decision-support tool with an audit trail per answer.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decision-support market projected at ~$2B by 2028. EHR-integration mandates and litigation costs are driving demand.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Retrieval-grounded, cited, safety-scored.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answers every clinical question using only text from four official CKD guidelines. Every answer includes a verbatim excerpt and a citation with document, section, and page. If the evidence isn't there, the system refuses instead of guessing.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051828"/>
          </a:solidFill>
          <a:ln w="12700">
            <a:solidFill>
              <a:srgbClr val="051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4754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3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semantic + BM25 search over 666 chunks.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44368" y="4343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246120" y="338328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051828"/>
          </a:solidFill>
          <a:ln w="12700">
            <a:solidFill>
              <a:srgbClr val="051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3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0" y="4754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3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≥ 0.70 or refuse. Calibrated, deterministic.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33288" y="4343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035040" y="338328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051828"/>
          </a:solidFill>
          <a:ln w="12700">
            <a:solidFill>
              <a:srgbClr val="051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63640" y="4754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3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only from retrieved text, cites exact chunks.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22208" y="4343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823960" y="338328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051828"/>
          </a:solidFill>
          <a:ln w="12700">
            <a:solidFill>
              <a:srgbClr val="051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5256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52560" y="4754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3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every claim, score faithfulness + citations.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corpus: four official CKD guidelines.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27432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KDIGO 2024 CKD Guideline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CKD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KDIGO 2022 Diabetes in CKD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Diabetes-in-CKD, MRAs, SGLT2i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NICE NG203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NICE (UK)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 &amp; pathway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USPSTF Screening for CKD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USPSTF (US)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Insufficient-evidence recommendation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Indexed and citation-ready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carries its document, section, page number, and stable ID — so every clinical claim can be traced back to a specific paragraph in a specific PDF.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stack, at a glance.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703320" cy="457200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1168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99339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PyMuPDF — PDF parsing (2-column safe)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186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tiktoken — 550-token chunk sizing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78561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MedEmbed-large — medical embeddings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35254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ChromaDB — persistent vector store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9194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BM25 — keyword ranking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4864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Reciprocal Rank Fusion — hybrid blend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1737360"/>
            <a:ext cx="3703320" cy="457200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011680"/>
            <a:ext cx="320040" cy="320040"/>
          </a:xfrm>
          <a:prstGeom prst="ellipse">
            <a:avLst/>
          </a:prstGeom>
          <a:solidFill>
            <a:srgbClr val="03A9A4"/>
          </a:solidFill>
          <a:ln w="12700">
            <a:solidFill>
              <a:srgbClr val="03A9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99339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&amp; Safety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0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Groq · Gemini · HuggingFace — LLMs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2186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system prompt (grounding + refusal)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78561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 validator (Rec / Excerpt / Cite)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35254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Cosine-based 0.70 quality gate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9194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Claim extractor + verifier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54864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4-level uncertainty language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1737360"/>
            <a:ext cx="3703320" cy="457200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2011680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199339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 &amp; Ops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412480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— JSON + static frontend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32186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 / CSS / vanilla JS — no framework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378561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Multi-key LLM pool + failover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35254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Per-request CSV audit log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49194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pytest — 57 offline tests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54864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python-dotenv — secret management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for retrieval and embeddings — no API calls to search. LLMs are pluggable across four providers.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— hybrid search that actually finds the answer.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alone misses questions that hinge on exact terms (SGLT2, A3, eGFR &lt;15). Keyword search alone misses paraphrases.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run both in parallel and fuse them: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MedEmbed cosine · weight 0.7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BM25 keyword · weight 0.3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Reciprocal Rank Fusion (k=60)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Candidate pool 50 → top-5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2120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our 18-question eval set: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6235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Hit@5 = 0.867  ·  Precision@5 = 0.213  ·  Recall@5 = 0.706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49440" y="1737360"/>
            <a:ext cx="4754880" cy="4480560"/>
          </a:xfrm>
          <a:prstGeom prst="roundRect">
            <a:avLst>
              <a:gd name="adj" fmla="val 3061"/>
            </a:avLst>
          </a:prstGeom>
          <a:solidFill>
            <a:srgbClr val="051828"/>
          </a:solidFill>
          <a:ln w="12700">
            <a:solidFill>
              <a:srgbClr val="051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1874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(Hit@5)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0" y="2606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MedEmbed (chosen)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0" y="2926080"/>
            <a:ext cx="4389120" cy="320040"/>
          </a:xfrm>
          <a:prstGeom prst="roundRect">
            <a:avLst>
              <a:gd name="adj" fmla="val 14286"/>
            </a:avLst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2926080"/>
            <a:ext cx="3805367" cy="320040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926080"/>
            <a:ext cx="37139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3657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BGE-large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0" y="3977640"/>
            <a:ext cx="4389120" cy="320040"/>
          </a:xfrm>
          <a:prstGeom prst="roundRect">
            <a:avLst>
              <a:gd name="adj" fmla="val 14286"/>
            </a:avLst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3977640"/>
            <a:ext cx="3217225" cy="320040"/>
          </a:xfrm>
          <a:prstGeom prst="roundRect">
            <a:avLst>
              <a:gd name="adj" fmla="val 14286"/>
            </a:avLst>
          </a:prstGeom>
          <a:solidFill>
            <a:srgbClr val="03A9A4"/>
          </a:solidFill>
          <a:ln w="12700">
            <a:solidFill>
              <a:srgbClr val="03A9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3977640"/>
            <a:ext cx="31257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4709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only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0" y="5029200"/>
            <a:ext cx="4389120" cy="320040"/>
          </a:xfrm>
          <a:prstGeom prst="roundRect">
            <a:avLst>
              <a:gd name="adj" fmla="val 14286"/>
            </a:avLst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5029200"/>
            <a:ext cx="3217225" cy="320040"/>
          </a:xfrm>
          <a:prstGeom prst="roundRect">
            <a:avLst>
              <a:gd name="adj" fmla="val 14286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5029200"/>
            <a:ext cx="31257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5669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03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 pp lift from swapping the general-purpose embedder for a medical-fine-tuned one.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generation — with a hard refusal gate.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577840" cy="4480560"/>
          </a:xfrm>
          <a:prstGeom prst="roundRect">
            <a:avLst>
              <a:gd name="adj" fmla="val 3061"/>
            </a:avLst>
          </a:prstGeom>
          <a:solidFill>
            <a:srgbClr val="051828"/>
          </a:solidFill>
          <a:ln w="12700">
            <a:solidFill>
              <a:srgbClr val="051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 — before the LLM is called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0F3049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67004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5146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top-5 hits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0F3049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447288"/>
            <a:ext cx="274320" cy="2743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32918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cosine ≥ 0.70 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06908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0F3049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22452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40690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generate grounded answer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84632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0F3049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5001768"/>
            <a:ext cx="274320" cy="2743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48463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deterministic refusal (no LLM call)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03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0.70 chosen from a measured 0.10 gap between in-scope and out-of-scope questions on the eval set.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1737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answer, always the same shape: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233172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24688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78040" y="2468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28346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sentence direct answer. Every claim maps to an Excerpt.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36118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37490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178040" y="3749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Excerpt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78040" y="4114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quote from a retrieved chunk. No paraphrasing.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489204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50292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178040" y="5029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78040" y="53949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[Source: doc — section, p.N | chunk_id:X | url]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Post-generation safety layer.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grounded LLM can drift. After every answer, we programmatically extract every claim and check whether the retrieved evidence supports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108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41148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Recommendation into atomic claims + attach cited chunk_ids.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8036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3108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41148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verifier / embedding similarity / NLI. Verifier gets a different prompt from generator.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88036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108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41148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claims / total claims. Directly measures hallucination.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1120" y="288036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3108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89720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 acc.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89720" y="41148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chunk_id exists in retrieved set AND verifier confirms support.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tagged with a 4-level evidence-strength label: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1722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172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 ·  ≥ 0.85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61722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6172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 ·  0.75–0.85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61722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6172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 ·  0.70–0.75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823960" y="61722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23960" y="6172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 ·  &lt; 0.70 → refuse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 can't die from a rate limit.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LLMs 429 constantly. We built a multi-key pool that round-robins within a provider and fails over to the next when the whole tier is in cooldown — invisibly to the user.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91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gpt-oss-20b · 2 keys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8920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8920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rpm / 14,400 req/day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310896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03A9A4"/>
          </a:solidFill>
          <a:ln w="12700">
            <a:solidFill>
              <a:srgbClr val="03A9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291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3657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74720" y="4297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3.6-flash · 3 keys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48920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48920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rpm / 20 req/day per key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10896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291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3657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HuggingFace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09360" y="4297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 · 2 keys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48920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8920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credit-based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61120" y="310896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3291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0" y="3657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144000" y="4297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 · opt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0" y="48920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48920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— hot spare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routing: generation prefers Groq/Gemini quality; verification prefers HuggingFace to preserve Gemini quota.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measured numbers.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703320" cy="1920240"/>
          </a:xfrm>
          <a:prstGeom prst="roundRect">
            <a:avLst>
              <a:gd name="adj" fmla="val 4762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352044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94360" y="2939796"/>
            <a:ext cx="3429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 answered questions, macro)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703320" cy="1920240"/>
          </a:xfrm>
          <a:prstGeom prst="roundRect">
            <a:avLst>
              <a:gd name="adj" fmla="val 4762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920240"/>
            <a:ext cx="352044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434840" y="2939796"/>
            <a:ext cx="3429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cited chunks correct)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703320" cy="1920240"/>
          </a:xfrm>
          <a:prstGeom prst="roundRect">
            <a:avLst>
              <a:gd name="adj" fmla="val 4762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920240"/>
            <a:ext cx="352044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86.7%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275320" y="2939796"/>
            <a:ext cx="3429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Hit@5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(unchanged from Day 2 baseline)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11247120" cy="256032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Answered questions (out of 15 in-scope)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artifacts/day4/evaluation_log.csv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refusals (system-prompt condition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Ambiguous edge case — safety layer working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refusals on out-of-scope questions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0.70 · perfect separation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In-scope pass rate at threshold 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/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artifacts/day4/threshold_sweep.csv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retrieval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~158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only — MedEmbed + Chroma + BM25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tests passing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/ 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test_generation · test_safety · test_llm_pool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3 questions in 90 seconds.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90195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 At what eGFR can an SGLT2 inhibitor be started in a patient with T2D and CKD?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4231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returns Recommendation + verbatim excerpt + citation. Confidence: high. Faithfulness: 1.0.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52044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345643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 What is the diagnostic threshold for albuminuria in CKD?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3977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passages are on-topic but general. Model correctly hedges and cites the closest table.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507492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074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501091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 How should acute appendicitis be managed?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553212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cosine 0.62 &lt; 0.70 → gate refuses deterministically. No LLM call. No hallucination possible.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 shown in browser during demo     ·     Backend served by whichever pool key is warm right now.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our team shipped in 5 days.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6858000" cy="4480560"/>
          </a:xfrm>
          <a:prstGeom prst="roundRect">
            <a:avLst>
              <a:gd name="adj" fmla="val 3061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by day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77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2377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parsing, chunking, MedEmbed embedding, ChromaDB index — 666 chunks live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33756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37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3337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retriever, 18-question eval set, Hit@5 measured, chunk ablation, model bake-off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297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97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91640" y="4297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prompt, quality gate, refusal conditions, format validator, 3 LLM backends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52578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257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91640" y="5257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extractor, faithfulness scorer, 4-level uncertainty, multi-key pool, FastAPI + web UI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1737360"/>
            <a:ext cx="4206240" cy="4480560"/>
          </a:xfrm>
          <a:prstGeom prst="roundRect">
            <a:avLst>
              <a:gd name="adj" fmla="val 3261"/>
            </a:avLst>
          </a:prstGeom>
          <a:solidFill>
            <a:srgbClr val="051828"/>
          </a:solidFill>
          <a:ln w="12700">
            <a:solidFill>
              <a:srgbClr val="051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2668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A9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91540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modules + notebooks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2668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A9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91540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indexed with metadata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26680" y="3749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A9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915400" y="3749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backends (Groq / Gemini / HF / Anthropic)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26680" y="4434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A9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915400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tests (no API needed)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26680" y="5120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A9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915400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on the eval set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Kidney-RAG · CKD Clinical Decision Support (Lite)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6596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vertical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 guidelines (ESC / AHA). Same pipeline — new corpus. Prove the CKD design is reproducible.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96596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3A9A4"/>
          </a:solidFill>
          <a:ln w="12700">
            <a:solidFill>
              <a:srgbClr val="03A9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468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EHR integration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29718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bridge so a clinician can ask 'what does the guideline say for THIS patient?'. Patient-specific grounding.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25196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51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754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deployment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" y="52578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Per-clinic SSO, audit-trail retention, custom guideline uploads, compliance reporting (HIPAA-ready log format).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4023360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425196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251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months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4754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evaluation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0800" y="52578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Real-clinician feedback loop feeding the eval set. Faithfulness measured on live traffic, not just a test set.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43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548640" y="38404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3A9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4937760"/>
            <a:ext cx="2743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Kidney-RAG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3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github.com/mohamed-mahmoud-de/Kidney-RAG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Creativa × Orange AI Hackathon  ·  August 2026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4B3C60-8130-7270-008A-21304587D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30410"/>
            <a:ext cx="12192001" cy="68884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7347CA-EDD3-92EB-2453-6ED443E22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30410"/>
            <a:ext cx="12192001" cy="68823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2462</Words>
  <Application>Microsoft Office PowerPoint</Application>
  <PresentationFormat>Widescreen</PresentationFormat>
  <Paragraphs>379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Kidney-RAG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Kidney-RAG — Pitch Deck</dc:title>
  <dc:subject>PptxGenJS Presentation</dc:subject>
  <dc:creator>PptxGenJS</dc:creator>
  <cp:lastModifiedBy>Mohamed Mahmoud</cp:lastModifiedBy>
  <cp:revision>2</cp:revision>
  <dcterms:created xsi:type="dcterms:W3CDTF">2026-08-19T23:35:53Z</dcterms:created>
  <dcterms:modified xsi:type="dcterms:W3CDTF">2026-08-20T00:09:32Z</dcterms:modified>
</cp:coreProperties>
</file>