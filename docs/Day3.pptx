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8092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0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ay3deck/logo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50292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37360" y="233172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72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5720" dirty="0"/>
          </a:p>
        </p:txBody>
      </p:sp>
      <p:sp>
        <p:nvSpPr>
          <p:cNvPr id="4" name="Text 1"/>
          <p:cNvSpPr/>
          <p:nvPr/>
        </p:nvSpPr>
        <p:spPr>
          <a:xfrm>
            <a:off x="9994392" y="233172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2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5720" dirty="0"/>
          </a:p>
        </p:txBody>
      </p:sp>
      <p:sp>
        <p:nvSpPr>
          <p:cNvPr id="5" name="Text 2"/>
          <p:cNvSpPr/>
          <p:nvPr/>
        </p:nvSpPr>
        <p:spPr>
          <a:xfrm>
            <a:off x="1737360" y="2331720"/>
            <a:ext cx="8714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1280160" y="3520440"/>
            <a:ext cx="9628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GENERATION &amp; CITATION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280160" y="416052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Decision Support Lite Hackathon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175504" y="4892040"/>
            <a:ext cx="1828800" cy="0"/>
          </a:xfrm>
          <a:prstGeom prst="line">
            <a:avLst/>
          </a:prstGeom>
          <a:noFill/>
          <a:ln w="12700">
            <a:solidFill>
              <a:srgbClr val="163B9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COUNCIL BEHIND THIS SESSION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by Three Specialists,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 as One Session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606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2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2420" dirty="0"/>
          </a:p>
        </p:txBody>
      </p:sp>
      <p:sp>
        <p:nvSpPr>
          <p:cNvPr id="6" name="Text 4"/>
          <p:cNvSpPr/>
          <p:nvPr/>
        </p:nvSpPr>
        <p:spPr>
          <a:xfrm>
            <a:off x="3246120" y="2606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2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242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 &amp;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Grounding Specialist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Trainer — Day 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6177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grounded prompt design and adversarial testing.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233172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606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2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2420" dirty="0"/>
          </a:p>
        </p:txBody>
      </p:sp>
      <p:sp>
        <p:nvSpPr>
          <p:cNvPr id="13" name="Text 11"/>
          <p:cNvSpPr/>
          <p:nvPr/>
        </p:nvSpPr>
        <p:spPr>
          <a:xfrm>
            <a:off x="6995160" y="2606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2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2420" dirty="0"/>
          </a:p>
        </p:txBody>
      </p:sp>
      <p:sp>
        <p:nvSpPr>
          <p:cNvPr id="14" name="Text 12"/>
          <p:cNvSpPr/>
          <p:nvPr/>
        </p:nvSpPr>
        <p:spPr>
          <a:xfrm>
            <a:off x="4572000" y="2606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329184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Communication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Citation Specialist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72000" y="42062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Advisor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46177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citation format and response structure standards.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0" y="233172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2606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2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2420" dirty="0"/>
          </a:p>
        </p:txBody>
      </p:sp>
      <p:sp>
        <p:nvSpPr>
          <p:cNvPr id="20" name="Text 18"/>
          <p:cNvSpPr/>
          <p:nvPr/>
        </p:nvSpPr>
        <p:spPr>
          <a:xfrm>
            <a:off x="10744200" y="2606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2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2420" dirty="0"/>
          </a:p>
        </p:txBody>
      </p:sp>
      <p:sp>
        <p:nvSpPr>
          <p:cNvPr id="21" name="Text 19"/>
          <p:cNvSpPr/>
          <p:nvPr/>
        </p:nvSpPr>
        <p:spPr>
          <a:xfrm>
            <a:off x="8321040" y="2606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21040" y="329184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&amp; Refusal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 Advisor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21040" y="42062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Advisor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21040" y="46177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when and how the system should decline to answer.</a:t>
            </a:r>
            <a:endParaRPr lang="en-US" sz="1150" dirty="0"/>
          </a:p>
        </p:txBody>
      </p:sp>
      <p:pic>
        <p:nvPicPr>
          <p:cNvPr id="25" name="Image 0" descr="/home/claude/day3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AI CLINICAL DECISION SUPPORT LITE HACKATHON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pic>
        <p:nvPicPr>
          <p:cNvPr id="28" name="Google Shape;90;p1">
            <a:extLst>
              <a:ext uri="{FF2B5EF4-FFF2-40B4-BE49-F238E27FC236}">
                <a16:creationId xmlns:a16="http://schemas.microsoft.com/office/drawing/2014/main" id="{5F9470B2-E5C4-45F0-858A-54A7E614F267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End, Every Team Can: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7830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system prompt that strictly forbids answering from outside knowledge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44144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every answer as recommendation, excerpt, and citation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14553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09981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a citation so it is precise, verifiable, and consistent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80390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75818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conditions under which the system must refuse to answer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4622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41655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refusal message that is honest without being unhelpful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5120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50749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retrieval and generation into one working, cited pipeline</a:t>
            </a:r>
            <a:endParaRPr lang="en-US" sz="1450" dirty="0"/>
          </a:p>
        </p:txBody>
      </p:sp>
      <p:pic>
        <p:nvPicPr>
          <p:cNvPr id="22" name="Image 0" descr="/home/claude/day3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AI CLINICAL DECISION SUPPORT LITE HACKATHON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pic>
        <p:nvPicPr>
          <p:cNvPr id="25" name="Google Shape;90;p1">
            <a:extLst>
              <a:ext uri="{FF2B5EF4-FFF2-40B4-BE49-F238E27FC236}">
                <a16:creationId xmlns:a16="http://schemas.microsoft.com/office/drawing/2014/main" id="{D2EB0ACD-7208-4A7A-9AA3-3753D14A7D7C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30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22860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10451592" y="22860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280160" y="242316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80160" y="2880360"/>
            <a:ext cx="9628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Today's Goal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94560" y="3931920"/>
            <a:ext cx="7799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provably-good retrieval to trustworthy answers</a:t>
            </a:r>
            <a:endParaRPr lang="en-US" sz="1400" dirty="0"/>
          </a:p>
        </p:txBody>
      </p:sp>
      <p:pic>
        <p:nvPicPr>
          <p:cNvPr id="7" name="Image 0" descr="/home/claude/day3deck/logo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AI CLINICAL DECISION SUPPORT LITE HACKATHON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pic>
        <p:nvPicPr>
          <p:cNvPr id="10" name="Google Shape;90;p1">
            <a:extLst>
              <a:ext uri="{FF2B5EF4-FFF2-40B4-BE49-F238E27FC236}">
                <a16:creationId xmlns:a16="http://schemas.microsoft.com/office/drawing/2014/main" id="{25323B2E-2714-4872-9B1B-4C2C97ED3A7E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 —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Walked In With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tuned retriever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and chunking backed by logged Precision@k scores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9202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148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benchmarked model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17720" y="2697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embedding model chosen with evidence, not guesswork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9202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2148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Visible evidence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12480" y="2697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chunks shown with scores and source metadata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0F307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160520"/>
            <a:ext cx="1014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missing: the model hasn't opened its mouth yet.</a:t>
            </a:r>
            <a:endParaRPr lang="en-US" sz="1800" dirty="0"/>
          </a:p>
        </p:txBody>
      </p:sp>
      <p:pic>
        <p:nvPicPr>
          <p:cNvPr id="15" name="Image 0" descr="/home/claude/day3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AI CLINICAL DECISION SUPPORT LITE HACKATHON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pic>
        <p:nvPicPr>
          <p:cNvPr id="18" name="Google Shape;90;p1">
            <a:extLst>
              <a:ext uri="{FF2B5EF4-FFF2-40B4-BE49-F238E27FC236}">
                <a16:creationId xmlns:a16="http://schemas.microsoft.com/office/drawing/2014/main" id="{B172B426-6F61-41D5-8F14-A2F768FE1FB5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 — THE GOAL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Retrieval, Wasted by a Loose Prompt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 retriever means nothing if the model still improvises. Today you constrain the model so tightly that every word it says can be traced back to a real page in a real guideline.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0F307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63240" y="37490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37560" y="310896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163B95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37033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&amp;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52160" y="37490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26480" y="310896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0F307F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37033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41080" y="37490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915400" y="310896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163B95"/>
          </a:solidFill>
          <a:ln/>
        </p:spPr>
      </p:sp>
      <p:sp>
        <p:nvSpPr>
          <p:cNvPr id="18" name="Text 16"/>
          <p:cNvSpPr/>
          <p:nvPr/>
        </p:nvSpPr>
        <p:spPr>
          <a:xfrm>
            <a:off x="909828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98280" y="37033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</a:t>
            </a:r>
            <a:endParaRPr lang="en-US" sz="1300" dirty="0"/>
          </a:p>
        </p:txBody>
      </p:sp>
      <p:pic>
        <p:nvPicPr>
          <p:cNvPr id="20" name="Image 0" descr="/home/claude/day3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AI CLINICAL DECISION SUPPORT LITE HACKATHON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pic>
        <p:nvPicPr>
          <p:cNvPr id="23" name="Google Shape;90;p1">
            <a:extLst>
              <a:ext uri="{FF2B5EF4-FFF2-40B4-BE49-F238E27FC236}">
                <a16:creationId xmlns:a16="http://schemas.microsoft.com/office/drawing/2014/main" id="{47706F65-3948-42B4-9548-0D6088B94421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30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22860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10451592" y="22860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280160" y="242316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80160" y="2880360"/>
            <a:ext cx="9628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Prompt Design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94560" y="3931920"/>
            <a:ext cx="7799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Constraining the model to say only what the evidence supports</a:t>
            </a:r>
            <a:endParaRPr lang="en-US" sz="1400" dirty="0"/>
          </a:p>
        </p:txBody>
      </p:sp>
      <p:pic>
        <p:nvPicPr>
          <p:cNvPr id="7" name="Image 0" descr="/home/claude/day3deck/logo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AI CLINICAL DECISION SUPPORT LITE HACKATHON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pic>
        <p:nvPicPr>
          <p:cNvPr id="10" name="Google Shape;90;p1">
            <a:extLst>
              <a:ext uri="{FF2B5EF4-FFF2-40B4-BE49-F238E27FC236}">
                <a16:creationId xmlns:a16="http://schemas.microsoft.com/office/drawing/2014/main" id="{5F71B191-138D-4E35-BCF6-6B2FF6E0099A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THE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Parts Every Grounding Prompt Needs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0F307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48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2148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assistant as a citation-bound clinical evidence tool, not a general advisor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92024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63B95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2148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11880" y="2697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Boundary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3200400"/>
            <a:ext cx="2148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explicitly: answer only from the provided passages, nothing else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0F307F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148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46520" y="2697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Format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3200400"/>
            <a:ext cx="2148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the recommendation / excerpt / citation structure every time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52560" y="192024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63B95"/>
          </a:solidFill>
          <a:ln/>
        </p:spPr>
      </p:sp>
      <p:sp>
        <p:nvSpPr>
          <p:cNvPr id="17" name="Text 15"/>
          <p:cNvSpPr/>
          <p:nvPr/>
        </p:nvSpPr>
        <p:spPr>
          <a:xfrm>
            <a:off x="9281160" y="2148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281160" y="2697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Escape Hatch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81160" y="3200400"/>
            <a:ext cx="2148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 the model exactly what to say when context is insufficient</a:t>
            </a:r>
            <a:endParaRPr lang="en-US" sz="1200" dirty="0"/>
          </a:p>
        </p:txBody>
      </p:sp>
      <p:pic>
        <p:nvPicPr>
          <p:cNvPr id="20" name="Image 0" descr="/home/claude/day3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AI CLINICAL DECISION SUPPORT LITE HACKATHON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pic>
        <p:nvPicPr>
          <p:cNvPr id="23" name="Google Shape;90;p1">
            <a:extLst>
              <a:ext uri="{FF2B5EF4-FFF2-40B4-BE49-F238E27FC236}">
                <a16:creationId xmlns:a16="http://schemas.microsoft.com/office/drawing/2014/main" id="{D7BE7B60-238E-4C95-87E4-A8683224B1FA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SETTING LIMITS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May — and May Not —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488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7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26517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Paraphrase retrieved text for clarity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3101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331012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multiple retrieved passages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96849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396849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confidence based on evidence strength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62686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462686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“I don't have enough information”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8745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1488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03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PROHIBITED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26517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3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49440" y="26517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facts not present in retrieved text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33101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3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331012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general medical training knowledge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396849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3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9440" y="396849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Softening or omitting a refusal for helpfulness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462686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3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0" y="462686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 dosages, thresholds, or intervals</a:t>
            </a:r>
            <a:endParaRPr lang="en-US" sz="1300" dirty="0"/>
          </a:p>
        </p:txBody>
      </p:sp>
      <p:pic>
        <p:nvPicPr>
          <p:cNvPr id="24" name="Image 0" descr="/home/claude/day3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AI CLINICAL DECISION SUPPORT LITE HACKATHON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pic>
        <p:nvPicPr>
          <p:cNvPr id="27" name="Google Shape;90;p1">
            <a:extLst>
              <a:ext uri="{FF2B5EF4-FFF2-40B4-BE49-F238E27FC236}">
                <a16:creationId xmlns:a16="http://schemas.microsoft.com/office/drawing/2014/main" id="{178D3E50-3DDA-41B0-9444-E8C699D526A2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STRESS 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to Break Your Own Prompt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grounding prompt isn't proven until someone tries to talk the model out of it. Run these adversarial tests before you trust your pipeline.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11064240" cy="3017520"/>
        </p:xfrm>
        <a:graphic>
          <a:graphicData uri="http://schemas.openxmlformats.org/drawingml/2006/table">
            <a:tbl>
              <a:tblPr/>
              <a:tblGrid>
                <a:gridCol w="521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Adversarial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You're Checking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0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a question with no relevant retrieved chunks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refuse instead of improvising?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“what do you personally think?”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decline to offer opinion beyond the evidence?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a question the retrieved text only partially answers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flag the gap instead of filling it in?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it to ignore its instructions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grounding constraint hold under pressure?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Image 0" descr="/home/claude/day3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AI CLINICAL DECISION SUPPORT LITE HACKATHON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9" name="Google Shape;90;p1">
            <a:extLst>
              <a:ext uri="{FF2B5EF4-FFF2-40B4-BE49-F238E27FC236}">
                <a16:creationId xmlns:a16="http://schemas.microsoft.com/office/drawing/2014/main" id="{93874439-E730-49E7-A308-D56A3BB8186B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30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22860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10451592" y="22860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280160" y="242316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80160" y="2880360"/>
            <a:ext cx="9628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Citation Formatting &amp; Response Structure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94560" y="3931920"/>
            <a:ext cx="7799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answer, the same shape, every time</a:t>
            </a:r>
            <a:endParaRPr lang="en-US" sz="1400" dirty="0"/>
          </a:p>
        </p:txBody>
      </p:sp>
      <p:pic>
        <p:nvPicPr>
          <p:cNvPr id="7" name="Image 0" descr="/home/claude/day3deck/logo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AI CLINICAL DECISION SUPPORT LITE HACKATHON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10" name="Google Shape;90;p1">
            <a:extLst>
              <a:ext uri="{FF2B5EF4-FFF2-40B4-BE49-F238E27FC236}">
                <a16:creationId xmlns:a16="http://schemas.microsoft.com/office/drawing/2014/main" id="{F85D1019-654B-4EA5-87F9-F0D476EE54E9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THE FORMAT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Recommendation. Excerpt. Citation.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Recommendation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direct answer to the clinical question in plain language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9202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1945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Excerpt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17720" y="283464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retrieved text that supports the recommendation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9202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21945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Citation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0" y="283464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name, section, and page number — always all three</a:t>
            </a:r>
            <a:endParaRPr lang="en-US" sz="1300" dirty="0"/>
          </a:p>
        </p:txBody>
      </p:sp>
      <p:pic>
        <p:nvPicPr>
          <p:cNvPr id="13" name="Image 0" descr="/home/claude/day3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AI CLINICAL DECISION SUPPORT LITE HACKATHON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16" name="Google Shape;90;p1">
            <a:extLst>
              <a:ext uri="{FF2B5EF4-FFF2-40B4-BE49-F238E27FC236}">
                <a16:creationId xmlns:a16="http://schemas.microsoft.com/office/drawing/2014/main" id="{4D3F39D8-9744-4C1E-91B5-FF7B9DF602A1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THE SPEC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Citation Format You Can Copy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0F307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1014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[Document Name, Section X.Y, Page N]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3246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3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[USPSTF Breast Cancer Screening 2024, Section 3.2, Page 7]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 bare page number alone — always name + section + page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4434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4434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exact document title as it appears in your metadata schema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4892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citation per excerpt — don't merge two sources into one citation</a:t>
            </a:r>
            <a:endParaRPr lang="en-US" sz="1350" dirty="0"/>
          </a:p>
        </p:txBody>
      </p:sp>
      <p:pic>
        <p:nvPicPr>
          <p:cNvPr id="14" name="Image 0" descr="/home/claude/day3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AI CLINICAL DECISION SUPPORT LITE HACKATHON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17" name="Google Shape;90;p1">
            <a:extLst>
              <a:ext uri="{FF2B5EF4-FFF2-40B4-BE49-F238E27FC236}">
                <a16:creationId xmlns:a16="http://schemas.microsoft.com/office/drawing/2014/main" id="{3E8323B7-5B4C-44C7-8E71-6065D35ED9FD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COMPARE &amp; CONTRAST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the Difference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3200400"/>
          </a:xfrm>
          <a:prstGeom prst="roundRect">
            <a:avLst>
              <a:gd name="adj" fmla="val 2286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945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03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4709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“Guidelines recommend regular screening for this condition.”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5349240" cy="3200400"/>
          </a:xfrm>
          <a:prstGeom prst="roundRect">
            <a:avLst>
              <a:gd name="adj" fmla="val 2286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1945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7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2697480"/>
            <a:ext cx="4709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“Screening is recommended every 2 years for average-risk women aged 40–74. [USPSTF Breast Cancer Screening 2024, Section 3.2, Page 7]”</a:t>
            </a:r>
            <a:endParaRPr lang="en-US" sz="1450" dirty="0"/>
          </a:p>
        </p:txBody>
      </p:sp>
      <p:pic>
        <p:nvPicPr>
          <p:cNvPr id="10" name="Image 0" descr="/home/claude/day3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AI CLINICAL DECISION SUPPORT LITE HACKATHON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13" name="Google Shape;90;p1">
            <a:extLst>
              <a:ext uri="{FF2B5EF4-FFF2-40B4-BE49-F238E27FC236}">
                <a16:creationId xmlns:a16="http://schemas.microsoft.com/office/drawing/2014/main" id="{C3E49D9D-C993-46E0-9131-E12A87BD9D62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30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22860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10451592" y="22860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280160" y="242316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80160" y="2880360"/>
            <a:ext cx="9628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Refusal Behavior Design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94560" y="3931920"/>
            <a:ext cx="7799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when not to answer is a feature, not a failure</a:t>
            </a:r>
            <a:endParaRPr lang="en-US" sz="1400" dirty="0"/>
          </a:p>
        </p:txBody>
      </p:sp>
      <p:pic>
        <p:nvPicPr>
          <p:cNvPr id="7" name="Image 0" descr="/home/claude/day3deck/logo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AI CLINICAL DECISION SUPPORT LITE HACKATHON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10" name="Google Shape;90;p1">
            <a:extLst>
              <a:ext uri="{FF2B5EF4-FFF2-40B4-BE49-F238E27FC236}">
                <a16:creationId xmlns:a16="http://schemas.microsoft.com/office/drawing/2014/main" id="{E6C6659F-21C4-4E5A-B7E6-0A7A2C1A347D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THE TRIGGERS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Situations That Demand a Refusal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163B9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945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relevant chunks retrieved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scores fall below your confidence threshold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92024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163B95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1945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context only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29718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text touches the topic but doesn't answer the specific question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92024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163B95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21945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Out-of-scope question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0" y="29718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falls outside your chosen guideline's domain entirely</a:t>
            </a:r>
            <a:endParaRPr lang="en-US" sz="1250" dirty="0"/>
          </a:p>
        </p:txBody>
      </p:sp>
      <p:pic>
        <p:nvPicPr>
          <p:cNvPr id="13" name="Image 0" descr="/home/claude/day3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AI CLINICAL DECISION SUPPORT LITE HACKATHON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pic>
        <p:nvPicPr>
          <p:cNvPr id="16" name="Google Shape;90;p1">
            <a:extLst>
              <a:ext uri="{FF2B5EF4-FFF2-40B4-BE49-F238E27FC236}">
                <a16:creationId xmlns:a16="http://schemas.microsoft.com/office/drawing/2014/main" id="{E06203A4-3BC9-4AC2-B14A-76C150B43372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THE MESSAGE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Honest, Not Unhelpful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refusal message does three things at once: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2860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clearly that the available evidence is insufficient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9900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94436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what was searched, so the gap feels transparent, not evasive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64845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60273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a next step — rephrasing the question or consulting a clinician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F307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434840"/>
            <a:ext cx="10149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couldn't find enough information in the indexed guidelines to answer this confidently. This source doesn't appear to cover this topic — try rephrasing, or consult a clinician directly.”</a:t>
            </a:r>
            <a:endParaRPr lang="en-US" sz="1300" dirty="0"/>
          </a:p>
        </p:txBody>
      </p:sp>
      <p:pic>
        <p:nvPicPr>
          <p:cNvPr id="16" name="Image 0" descr="/home/claude/day3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AI CLINICAL DECISION SUPPORT LITE HACKATHON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pic>
        <p:nvPicPr>
          <p:cNvPr id="19" name="Google Shape;90;p1">
            <a:extLst>
              <a:ext uri="{FF2B5EF4-FFF2-40B4-BE49-F238E27FC236}">
                <a16:creationId xmlns:a16="http://schemas.microsoft.com/office/drawing/2014/main" id="{EF3A8D83-EC8E-48BD-9E14-9A4A83D7142B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PROVE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Refusal Test Case Now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881360" cy="3291840"/>
          </a:xfrm>
          <a:prstGeom prst="roundRect">
            <a:avLst>
              <a:gd name="adj" fmla="val 2222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5740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Requirement for Day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live demo must include at least one refusal case that works on command.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32461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question genuinely outside your source's coverage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794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3794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through your pipeline and confirm the refusal triggers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343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43434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this exact question — it's your rehearsed refusal demo for Day 5</a:t>
            </a:r>
            <a:endParaRPr lang="en-US" sz="1400" dirty="0"/>
          </a:p>
        </p:txBody>
      </p:sp>
      <p:pic>
        <p:nvPicPr>
          <p:cNvPr id="13" name="Image 0" descr="/home/claude/day3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AI CLINICAL DECISION SUPPORT LITE HACKATHON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pic>
        <p:nvPicPr>
          <p:cNvPr id="16" name="Google Shape;90;p1">
            <a:extLst>
              <a:ext uri="{FF2B5EF4-FFF2-40B4-BE49-F238E27FC236}">
                <a16:creationId xmlns:a16="http://schemas.microsoft.com/office/drawing/2014/main" id="{8B8D570F-9B00-493D-83B5-D6553C7AF622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30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22860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10451592" y="228600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280160" y="242316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80160" y="2880360"/>
            <a:ext cx="9628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Full Pipeline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94560" y="3931920"/>
            <a:ext cx="7799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Retrieval, generation, and citation — connected end to end</a:t>
            </a:r>
            <a:endParaRPr lang="en-US" sz="1400" dirty="0"/>
          </a:p>
        </p:txBody>
      </p:sp>
      <p:pic>
        <p:nvPicPr>
          <p:cNvPr id="7" name="Image 0" descr="/home/claude/day3deck/logo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AI CLINICAL DECISION SUPPORT LITE HACKATHON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pic>
        <p:nvPicPr>
          <p:cNvPr id="10" name="Google Shape;90;p1">
            <a:extLst>
              <a:ext uri="{FF2B5EF4-FFF2-40B4-BE49-F238E27FC236}">
                <a16:creationId xmlns:a16="http://schemas.microsoft.com/office/drawing/2014/main" id="{EBAA2E96-19CF-453F-BC72-F445D2B35792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THE FULL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You've Built, in One Chain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0F307F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28600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2651760"/>
            <a:ext cx="16824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292608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97480" y="210312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163B95"/>
          </a:solidFill>
          <a:ln/>
        </p:spPr>
      </p:sp>
      <p:sp>
        <p:nvSpPr>
          <p:cNvPr id="9" name="Text 7"/>
          <p:cNvSpPr/>
          <p:nvPr/>
        </p:nvSpPr>
        <p:spPr>
          <a:xfrm>
            <a:off x="2862072" y="228600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62072" y="2651760"/>
            <a:ext cx="16824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(Day 2 index)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292608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46320" y="210312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0F307F"/>
          </a:solidFill>
          <a:ln/>
        </p:spPr>
      </p:sp>
      <p:sp>
        <p:nvSpPr>
          <p:cNvPr id="13" name="Text 11"/>
          <p:cNvSpPr/>
          <p:nvPr/>
        </p:nvSpPr>
        <p:spPr>
          <a:xfrm>
            <a:off x="5010912" y="228600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10912" y="2651760"/>
            <a:ext cx="16824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Prompt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292608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95160" y="210312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163B95"/>
          </a:solidFill>
          <a:ln/>
        </p:spPr>
      </p:sp>
      <p:sp>
        <p:nvSpPr>
          <p:cNvPr id="17" name="Text 15"/>
          <p:cNvSpPr/>
          <p:nvPr/>
        </p:nvSpPr>
        <p:spPr>
          <a:xfrm>
            <a:off x="7159752" y="228600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59752" y="2651760"/>
            <a:ext cx="16824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06840" y="292608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44000" y="210312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0F307F"/>
          </a:solidFill>
          <a:ln/>
        </p:spPr>
      </p:sp>
      <p:sp>
        <p:nvSpPr>
          <p:cNvPr id="21" name="Text 19"/>
          <p:cNvSpPr/>
          <p:nvPr/>
        </p:nvSpPr>
        <p:spPr>
          <a:xfrm>
            <a:off x="9308592" y="228600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08592" y="2651760"/>
            <a:ext cx="16824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&amp; Return</a:t>
            </a:r>
            <a:endParaRPr lang="en-US" sz="1200" dirty="0"/>
          </a:p>
        </p:txBody>
      </p:sp>
      <p:pic>
        <p:nvPicPr>
          <p:cNvPr id="24" name="Image 0" descr="/home/claude/day3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AI CLINICAL DECISION SUPPORT LITE HACKATHON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pic>
        <p:nvPicPr>
          <p:cNvPr id="27" name="Google Shape;90;p1">
            <a:extLst>
              <a:ext uri="{FF2B5EF4-FFF2-40B4-BE49-F238E27FC236}">
                <a16:creationId xmlns:a16="http://schemas.microsoft.com/office/drawing/2014/main" id="{BBBBC966-BC44-450B-9222-AE322870B98A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BEFORE YOU WIRE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Assembly Checklist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7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82880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chunks are passed into the prompt exactly as indexed — no silent edits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7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60604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grounding system prompt is applied on every single call, no exceptions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429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7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38328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parsing enforces the recommendation / excerpt / citation structure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7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16052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confidence check runs before generation and can trigger refusal</a:t>
            </a:r>
            <a:endParaRPr lang="en-US" sz="1450" dirty="0"/>
          </a:p>
        </p:txBody>
      </p:sp>
      <p:pic>
        <p:nvPicPr>
          <p:cNvPr id="16" name="Image 0" descr="/home/claude/day3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AI CLINICAL DECISION SUPPORT LITE HACKATHON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pic>
        <p:nvPicPr>
          <p:cNvPr id="19" name="Google Shape;90;p1">
            <a:extLst>
              <a:ext uri="{FF2B5EF4-FFF2-40B4-BE49-F238E27FC236}">
                <a16:creationId xmlns:a16="http://schemas.microsoft.com/office/drawing/2014/main" id="{6C68E859-E1DD-4A22-97AD-9E6C02A6DB7C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 BUILDING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Competition Checklist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756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system prompt written and stress-tested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12724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92608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/ excerpt / citation format enforced in output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17880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397764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includes document, section, and page every time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187452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20756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86600" y="187452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 logic implemented and triggers correctly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292608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312724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86600" y="292608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rehearsed refusal test case saved for Day 5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397764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417880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F307F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86600" y="397764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runs end-to-end on a real query</a:t>
            </a:r>
            <a:endParaRPr lang="en-US" sz="1250" dirty="0"/>
          </a:p>
        </p:txBody>
      </p:sp>
      <p:pic>
        <p:nvPicPr>
          <p:cNvPr id="28" name="Image 0" descr="/home/claude/day3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AI CLINICAL DECISION SUPPORT LITE HACKATHON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pic>
        <p:nvPicPr>
          <p:cNvPr id="31" name="Google Shape;90;p1">
            <a:extLst>
              <a:ext uri="{FF2B5EF4-FFF2-40B4-BE49-F238E27FC236}">
                <a16:creationId xmlns:a16="http://schemas.microsoft.com/office/drawing/2014/main" id="{415C699B-EB82-4A85-B691-485BE40DC24F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PAST COHORTS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Day 3 Pitfalls to Avoid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163B9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05740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“polite” prompt, not a strict one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496312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Phrasing constraints as suggestions the model can override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163B95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103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086600" y="205740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Citations without page numbers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86600" y="2496312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name alone isn't verifiable in a 40-page guideline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163B9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94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37490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Refusal that never triggers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187952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Untested refusal logic that silently hallucinates instead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56616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163B95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794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86600" y="37490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rehearsed refusal demo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86600" y="4187952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Arriving at Day 5 without a known-working refusal question</a:t>
            </a:r>
            <a:endParaRPr lang="en-US" sz="1200" dirty="0"/>
          </a:p>
        </p:txBody>
      </p:sp>
      <p:pic>
        <p:nvPicPr>
          <p:cNvPr id="20" name="Image 0" descr="/home/claude/day3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AI CLINICAL DECISION SUPPORT LITE HACKATHON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pic>
        <p:nvPicPr>
          <p:cNvPr id="23" name="Google Shape;90;p1">
            <a:extLst>
              <a:ext uri="{FF2B5EF4-FFF2-40B4-BE49-F238E27FC236}">
                <a16:creationId xmlns:a16="http://schemas.microsoft.com/office/drawing/2014/main" id="{4FD23DB1-E3B3-43CA-9A95-B9AC9950D1F8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“Done” Looks Like at 16:00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0881360" cy="3566160"/>
          </a:xfrm>
          <a:prstGeom prst="roundRect">
            <a:avLst>
              <a:gd name="adj" fmla="val 2051"/>
            </a:avLst>
          </a:prstGeom>
          <a:solidFill>
            <a:srgbClr val="F1F5FC"/>
          </a:solidFill>
          <a:ln w="12700">
            <a:solidFill>
              <a:srgbClr val="DCE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86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7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24028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grounding prompt that survives adversarial testing without breaking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14400" y="3063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7F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301752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structured as recommendation, excerpt, and full citation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914400" y="3840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7F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79476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rehearsed refusal case ready for Day 5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914400" y="46177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C7F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0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457200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connected pipeline running from query to cited answer</a:t>
            </a:r>
            <a:endParaRPr lang="en-US" sz="1450" dirty="0"/>
          </a:p>
        </p:txBody>
      </p:sp>
      <p:pic>
        <p:nvPicPr>
          <p:cNvPr id="17" name="Image 0" descr="/home/claude/day3deck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384048" cy="38404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05840" y="63276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AI CLINICAL DECISION SUPPORT LITE HACKATHON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3276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pic>
        <p:nvPicPr>
          <p:cNvPr id="20" name="Google Shape;90;p1">
            <a:extLst>
              <a:ext uri="{FF2B5EF4-FFF2-40B4-BE49-F238E27FC236}">
                <a16:creationId xmlns:a16="http://schemas.microsoft.com/office/drawing/2014/main" id="{A139A8D7-DE88-4225-BAE2-7DC047A28354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30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ay3deck/logo_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82296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37360" y="274320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4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</a:t>
            </a:r>
            <a:endParaRPr lang="en-US" sz="4840" dirty="0"/>
          </a:p>
        </p:txBody>
      </p:sp>
      <p:sp>
        <p:nvSpPr>
          <p:cNvPr id="4" name="Text 1"/>
          <p:cNvSpPr/>
          <p:nvPr/>
        </p:nvSpPr>
        <p:spPr>
          <a:xfrm>
            <a:off x="9994392" y="274320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840" b="1" dirty="0">
                <a:solidFill>
                  <a:srgbClr val="00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4840" dirty="0"/>
          </a:p>
        </p:txBody>
      </p:sp>
      <p:sp>
        <p:nvSpPr>
          <p:cNvPr id="5" name="Text 2"/>
          <p:cNvSpPr/>
          <p:nvPr/>
        </p:nvSpPr>
        <p:spPr>
          <a:xfrm>
            <a:off x="1737360" y="2834640"/>
            <a:ext cx="8714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Word, Traceable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737360" y="370332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closes at 01:00 — the competition clock starts immediately after.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737360" y="420624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Find your Module trainer before you head to your team table.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737360" y="6126480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AFC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Decision Support Lite Hackathon  ·  Day 3  ·  Instant</a:t>
            </a:r>
            <a:endParaRPr lang="en-US" sz="1100" dirty="0"/>
          </a:p>
        </p:txBody>
      </p:sp>
      <p:pic>
        <p:nvPicPr>
          <p:cNvPr id="9" name="Google Shape;90;p1">
            <a:extLst>
              <a:ext uri="{FF2B5EF4-FFF2-40B4-BE49-F238E27FC236}">
                <a16:creationId xmlns:a16="http://schemas.microsoft.com/office/drawing/2014/main" id="{51C300B0-12D2-4E61-9ECA-E6539E8C17E8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1591</Words>
  <Application>Microsoft Office PowerPoint</Application>
  <PresentationFormat>Widescreen</PresentationFormat>
  <Paragraphs>339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Abdallah Wagih</cp:lastModifiedBy>
  <cp:revision>5</cp:revision>
  <dcterms:created xsi:type="dcterms:W3CDTF">2026-08-09T06:41:02Z</dcterms:created>
  <dcterms:modified xsi:type="dcterms:W3CDTF">2026-08-09T07:05:12Z</dcterms:modified>
</cp:coreProperties>
</file>