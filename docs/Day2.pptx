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7"/>
  </p:notesMasterIdLst>
  <p:sldIdLst>
    <p:sldId id="256" r:id="rId2"/>
    <p:sldId id="257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  <p:sldId id="277" r:id="rId22"/>
    <p:sldId id="278" r:id="rId23"/>
    <p:sldId id="279" r:id="rId24"/>
    <p:sldId id="280" r:id="rId25"/>
    <p:sldId id="281" r:id="rId26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691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9456805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307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day2deck/logo_dark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13248" y="502920"/>
            <a:ext cx="1371600" cy="1371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737360" y="2331720"/>
            <a:ext cx="457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5720" b="1" dirty="0">
                <a:solidFill>
                  <a:srgbClr val="00C7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[</a:t>
            </a:r>
            <a:endParaRPr lang="en-US" sz="5720" dirty="0"/>
          </a:p>
        </p:txBody>
      </p:sp>
      <p:sp>
        <p:nvSpPr>
          <p:cNvPr id="4" name="Text 1"/>
          <p:cNvSpPr/>
          <p:nvPr/>
        </p:nvSpPr>
        <p:spPr>
          <a:xfrm>
            <a:off x="9994392" y="2331720"/>
            <a:ext cx="457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5720" b="1" dirty="0">
                <a:solidFill>
                  <a:srgbClr val="00C7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]</a:t>
            </a:r>
            <a:endParaRPr lang="en-US" sz="5720" dirty="0"/>
          </a:p>
        </p:txBody>
      </p:sp>
      <p:sp>
        <p:nvSpPr>
          <p:cNvPr id="5" name="Text 2"/>
          <p:cNvSpPr/>
          <p:nvPr/>
        </p:nvSpPr>
        <p:spPr>
          <a:xfrm>
            <a:off x="1737360" y="2331720"/>
            <a:ext cx="871423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DAY 2</a:t>
            </a:r>
            <a:endParaRPr lang="en-US" sz="6600" dirty="0"/>
          </a:p>
        </p:txBody>
      </p:sp>
      <p:sp>
        <p:nvSpPr>
          <p:cNvPr id="6" name="Text 3"/>
          <p:cNvSpPr/>
          <p:nvPr/>
        </p:nvSpPr>
        <p:spPr>
          <a:xfrm>
            <a:off x="1280160" y="3520440"/>
            <a:ext cx="962863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kern="0" spc="200" dirty="0">
                <a:solidFill>
                  <a:srgbClr val="00C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RETRIEVAL OPTIMIZATION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1280160" y="4160520"/>
            <a:ext cx="96286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AFC6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Clinical Decision Support Lite Hackathon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5175504" y="4892040"/>
            <a:ext cx="1828800" cy="0"/>
          </a:xfrm>
          <a:prstGeom prst="line">
            <a:avLst/>
          </a:prstGeom>
          <a:noFill/>
          <a:ln w="12700">
            <a:solidFill>
              <a:srgbClr val="163B95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0C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COUNCIL BEHIND THIS SESSION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8686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Designed by Three Specialists,</a:t>
            </a:r>
            <a:endParaRPr lang="en-US" sz="3200" dirty="0"/>
          </a:p>
          <a:p>
            <a:pPr marL="0" indent="0">
              <a:buNone/>
            </a:pPr>
            <a:r>
              <a:rPr lang="en-US" sz="320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Delivered as One Session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2331720"/>
            <a:ext cx="3429000" cy="3291840"/>
          </a:xfrm>
          <a:prstGeom prst="roundRect">
            <a:avLst>
              <a:gd name="adj" fmla="val 2222"/>
            </a:avLst>
          </a:prstGeom>
          <a:solidFill>
            <a:srgbClr val="F1F5FC"/>
          </a:solidFill>
          <a:ln w="12700">
            <a:solidFill>
              <a:srgbClr val="DCE6F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2606040"/>
            <a:ext cx="457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20" b="1" dirty="0">
                <a:solidFill>
                  <a:srgbClr val="00C7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[</a:t>
            </a:r>
            <a:endParaRPr lang="en-US" sz="2420" dirty="0"/>
          </a:p>
        </p:txBody>
      </p:sp>
      <p:sp>
        <p:nvSpPr>
          <p:cNvPr id="6" name="Text 4"/>
          <p:cNvSpPr/>
          <p:nvPr/>
        </p:nvSpPr>
        <p:spPr>
          <a:xfrm>
            <a:off x="3246120" y="2606040"/>
            <a:ext cx="457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420" b="1" dirty="0">
                <a:solidFill>
                  <a:srgbClr val="00C7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]</a:t>
            </a:r>
            <a:endParaRPr lang="en-US" sz="2420" dirty="0"/>
          </a:p>
        </p:txBody>
      </p:sp>
      <p:sp>
        <p:nvSpPr>
          <p:cNvPr id="7" name="Text 5"/>
          <p:cNvSpPr/>
          <p:nvPr/>
        </p:nvSpPr>
        <p:spPr>
          <a:xfrm>
            <a:off x="822960" y="2606040"/>
            <a:ext cx="2880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F307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822960" y="3291840"/>
            <a:ext cx="2880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Information Retrieval &amp;</a:t>
            </a:r>
            <a:endParaRPr lang="en-US" sz="1700" dirty="0"/>
          </a:p>
          <a:p>
            <a:pPr marL="0" indent="0" algn="ctr">
              <a:buNone/>
            </a:pPr>
            <a:r>
              <a:rPr lang="en-US" sz="170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Search Ranking Specialist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822960" y="4206240"/>
            <a:ext cx="2880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F30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 Trainer — Day 2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822960" y="4617720"/>
            <a:ext cx="2880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Owns semantic search, top-k tuning, and ranking quality.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4297680" y="2331720"/>
            <a:ext cx="3429000" cy="3291840"/>
          </a:xfrm>
          <a:prstGeom prst="roundRect">
            <a:avLst>
              <a:gd name="adj" fmla="val 2222"/>
            </a:avLst>
          </a:prstGeom>
          <a:solidFill>
            <a:srgbClr val="F1F5FC"/>
          </a:solidFill>
          <a:ln w="12700">
            <a:solidFill>
              <a:srgbClr val="DCE6F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0" y="2606040"/>
            <a:ext cx="457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20" b="1" dirty="0">
                <a:solidFill>
                  <a:srgbClr val="00C7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[</a:t>
            </a:r>
            <a:endParaRPr lang="en-US" sz="2420" dirty="0"/>
          </a:p>
        </p:txBody>
      </p:sp>
      <p:sp>
        <p:nvSpPr>
          <p:cNvPr id="13" name="Text 11"/>
          <p:cNvSpPr/>
          <p:nvPr/>
        </p:nvSpPr>
        <p:spPr>
          <a:xfrm>
            <a:off x="6995160" y="2606040"/>
            <a:ext cx="457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420" b="1" dirty="0">
                <a:solidFill>
                  <a:srgbClr val="00C7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]</a:t>
            </a:r>
            <a:endParaRPr lang="en-US" sz="2420" dirty="0"/>
          </a:p>
        </p:txBody>
      </p:sp>
      <p:sp>
        <p:nvSpPr>
          <p:cNvPr id="14" name="Text 12"/>
          <p:cNvSpPr/>
          <p:nvPr/>
        </p:nvSpPr>
        <p:spPr>
          <a:xfrm>
            <a:off x="4572000" y="2606040"/>
            <a:ext cx="2880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F307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4572000" y="3291840"/>
            <a:ext cx="2880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Embedding Evaluation</a:t>
            </a:r>
            <a:endParaRPr lang="en-US" sz="1700" dirty="0"/>
          </a:p>
          <a:p>
            <a:pPr marL="0" indent="0" algn="ctr">
              <a:buNone/>
            </a:pPr>
            <a:r>
              <a:rPr lang="en-US" sz="170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Specialist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4572000" y="4206240"/>
            <a:ext cx="2880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F30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 Advisor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572000" y="4617720"/>
            <a:ext cx="2880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Designs test sets and scoring for model comparison.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8046720" y="2331720"/>
            <a:ext cx="3429000" cy="3291840"/>
          </a:xfrm>
          <a:prstGeom prst="roundRect">
            <a:avLst>
              <a:gd name="adj" fmla="val 2222"/>
            </a:avLst>
          </a:prstGeom>
          <a:solidFill>
            <a:srgbClr val="F1F5FC"/>
          </a:solidFill>
          <a:ln w="12700">
            <a:solidFill>
              <a:srgbClr val="DCE6F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321040" y="2606040"/>
            <a:ext cx="457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20" b="1" dirty="0">
                <a:solidFill>
                  <a:srgbClr val="00C7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[</a:t>
            </a:r>
            <a:endParaRPr lang="en-US" sz="2420" dirty="0"/>
          </a:p>
        </p:txBody>
      </p:sp>
      <p:sp>
        <p:nvSpPr>
          <p:cNvPr id="20" name="Text 18"/>
          <p:cNvSpPr/>
          <p:nvPr/>
        </p:nvSpPr>
        <p:spPr>
          <a:xfrm>
            <a:off x="10744200" y="2606040"/>
            <a:ext cx="457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420" b="1" dirty="0">
                <a:solidFill>
                  <a:srgbClr val="00C7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]</a:t>
            </a:r>
            <a:endParaRPr lang="en-US" sz="2420" dirty="0"/>
          </a:p>
        </p:txBody>
      </p:sp>
      <p:sp>
        <p:nvSpPr>
          <p:cNvPr id="21" name="Text 19"/>
          <p:cNvSpPr/>
          <p:nvPr/>
        </p:nvSpPr>
        <p:spPr>
          <a:xfrm>
            <a:off x="8321040" y="2606040"/>
            <a:ext cx="2880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F307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8321040" y="3291840"/>
            <a:ext cx="2880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Explainability &amp;</a:t>
            </a:r>
            <a:endParaRPr lang="en-US" sz="1700" dirty="0"/>
          </a:p>
          <a:p>
            <a:pPr marL="0" indent="0" algn="ctr">
              <a:buNone/>
            </a:pPr>
            <a:r>
              <a:rPr lang="en-US" sz="170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UX Advisor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8321040" y="4206240"/>
            <a:ext cx="2880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F30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Advisor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8321040" y="4617720"/>
            <a:ext cx="2880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Ensures retrieved evidence is visible before generation.</a:t>
            </a:r>
            <a:endParaRPr lang="en-US" sz="1150" dirty="0"/>
          </a:p>
        </p:txBody>
      </p:sp>
      <p:pic>
        <p:nvPicPr>
          <p:cNvPr id="25" name="Image 0" descr="/home/claude/day2deck/logo_ligh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6291072"/>
            <a:ext cx="384048" cy="384048"/>
          </a:xfrm>
          <a:prstGeom prst="rect">
            <a:avLst/>
          </a:prstGeom>
        </p:spPr>
      </p:pic>
      <p:sp>
        <p:nvSpPr>
          <p:cNvPr id="26" name="Text 23"/>
          <p:cNvSpPr/>
          <p:nvPr/>
        </p:nvSpPr>
        <p:spPr>
          <a:xfrm>
            <a:off x="1005840" y="6327648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  ·  AI CLINICAL DECISION SUPPORT LITE HACKATHON</a:t>
            </a:r>
            <a:endParaRPr lang="en-US" sz="900" dirty="0"/>
          </a:p>
        </p:txBody>
      </p:sp>
      <p:sp>
        <p:nvSpPr>
          <p:cNvPr id="27" name="Text 24"/>
          <p:cNvSpPr/>
          <p:nvPr/>
        </p:nvSpPr>
        <p:spPr>
          <a:xfrm>
            <a:off x="11274552" y="6327648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900" dirty="0"/>
          </a:p>
        </p:txBody>
      </p:sp>
      <p:pic>
        <p:nvPicPr>
          <p:cNvPr id="28" name="Google Shape;90;p1">
            <a:extLst>
              <a:ext uri="{FF2B5EF4-FFF2-40B4-BE49-F238E27FC236}">
                <a16:creationId xmlns:a16="http://schemas.microsoft.com/office/drawing/2014/main" id="{176F63A3-D562-4047-9F1A-1D74A4221393}"/>
              </a:ext>
            </a:extLst>
          </p:cNvPr>
          <p:cNvPicPr preferRelativeResize="0"/>
          <p:nvPr/>
        </p:nvPicPr>
        <p:blipFill>
          <a:blip r:embed="rId4"/>
          <a:srcRect/>
          <a:stretch/>
        </p:blipFill>
        <p:spPr>
          <a:xfrm>
            <a:off x="10510684" y="-9329"/>
            <a:ext cx="1681316" cy="155349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0C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OBJECTIVES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9144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By the End, Every Team Can: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0F307F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8288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0C7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280160" y="1783080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 how semantic search ranks chunks using vector similarity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640080" y="2487168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0F307F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24871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0C7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280160" y="2441448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a defensible top-k value for a clinical query</a:t>
            </a:r>
            <a:endParaRPr lang="en-US" sz="1450" dirty="0"/>
          </a:p>
        </p:txBody>
      </p:sp>
      <p:sp>
        <p:nvSpPr>
          <p:cNvPr id="10" name="Shape 8"/>
          <p:cNvSpPr/>
          <p:nvPr/>
        </p:nvSpPr>
        <p:spPr>
          <a:xfrm>
            <a:off x="640080" y="3145536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0F307F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314553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0C7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280160" y="3099816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a chunk-size / overlap experiment and read the results</a:t>
            </a:r>
            <a:endParaRPr lang="en-US" sz="1450" dirty="0"/>
          </a:p>
        </p:txBody>
      </p:sp>
      <p:sp>
        <p:nvSpPr>
          <p:cNvPr id="13" name="Shape 11"/>
          <p:cNvSpPr/>
          <p:nvPr/>
        </p:nvSpPr>
        <p:spPr>
          <a:xfrm>
            <a:off x="640080" y="3803904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0F307F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" y="380390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0C7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280160" y="3758184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 Retrieval Precision@k on a small test set</a:t>
            </a:r>
            <a:endParaRPr lang="en-US" sz="1450" dirty="0"/>
          </a:p>
        </p:txBody>
      </p:sp>
      <p:sp>
        <p:nvSpPr>
          <p:cNvPr id="16" name="Shape 14"/>
          <p:cNvSpPr/>
          <p:nvPr/>
        </p:nvSpPr>
        <p:spPr>
          <a:xfrm>
            <a:off x="640080" y="4462272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0F307F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" y="44622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0C7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280160" y="4416552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at least two embedding models with evidence, not guesswork</a:t>
            </a:r>
            <a:endParaRPr lang="en-US" sz="1450" dirty="0"/>
          </a:p>
        </p:txBody>
      </p:sp>
      <p:sp>
        <p:nvSpPr>
          <p:cNvPr id="19" name="Shape 17"/>
          <p:cNvSpPr/>
          <p:nvPr/>
        </p:nvSpPr>
        <p:spPr>
          <a:xfrm>
            <a:off x="640080" y="5120640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0F307F"/>
          </a:solidFill>
          <a:ln/>
        </p:spPr>
      </p:sp>
      <p:sp>
        <p:nvSpPr>
          <p:cNvPr id="20" name="Text 18"/>
          <p:cNvSpPr/>
          <p:nvPr/>
        </p:nvSpPr>
        <p:spPr>
          <a:xfrm>
            <a:off x="640080" y="51206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0C7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280160" y="5074920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Surface retrieved chunks to the user before generation</a:t>
            </a:r>
            <a:endParaRPr lang="en-US" sz="1450" dirty="0"/>
          </a:p>
        </p:txBody>
      </p:sp>
      <p:pic>
        <p:nvPicPr>
          <p:cNvPr id="22" name="Image 0" descr="/home/claude/day2deck/logo_ligh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6291072"/>
            <a:ext cx="384048" cy="384048"/>
          </a:xfrm>
          <a:prstGeom prst="rect">
            <a:avLst/>
          </a:prstGeom>
        </p:spPr>
      </p:pic>
      <p:sp>
        <p:nvSpPr>
          <p:cNvPr id="23" name="Text 20"/>
          <p:cNvSpPr/>
          <p:nvPr/>
        </p:nvSpPr>
        <p:spPr>
          <a:xfrm>
            <a:off x="1005840" y="6327648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  ·  AI CLINICAL DECISION SUPPORT LITE HACKATHON</a:t>
            </a:r>
            <a:endParaRPr lang="en-US" sz="900" dirty="0"/>
          </a:p>
        </p:txBody>
      </p:sp>
      <p:sp>
        <p:nvSpPr>
          <p:cNvPr id="24" name="Text 21"/>
          <p:cNvSpPr/>
          <p:nvPr/>
        </p:nvSpPr>
        <p:spPr>
          <a:xfrm>
            <a:off x="11274552" y="6327648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900" dirty="0"/>
          </a:p>
        </p:txBody>
      </p:sp>
      <p:pic>
        <p:nvPicPr>
          <p:cNvPr id="25" name="Google Shape;90;p1">
            <a:extLst>
              <a:ext uri="{FF2B5EF4-FFF2-40B4-BE49-F238E27FC236}">
                <a16:creationId xmlns:a16="http://schemas.microsoft.com/office/drawing/2014/main" id="{33C7B392-5608-46C6-A0F6-43D6F3384C19}"/>
              </a:ext>
            </a:extLst>
          </p:cNvPr>
          <p:cNvPicPr preferRelativeResize="0"/>
          <p:nvPr/>
        </p:nvPicPr>
        <p:blipFill>
          <a:blip r:embed="rId4"/>
          <a:srcRect/>
          <a:stretch/>
        </p:blipFill>
        <p:spPr>
          <a:xfrm>
            <a:off x="10510684" y="-9329"/>
            <a:ext cx="1681316" cy="155349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307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80160" y="2286000"/>
            <a:ext cx="4572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6600" b="1" dirty="0">
                <a:solidFill>
                  <a:srgbClr val="00C7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[</a:t>
            </a:r>
            <a:endParaRPr lang="en-US" sz="6600" dirty="0"/>
          </a:p>
        </p:txBody>
      </p:sp>
      <p:sp>
        <p:nvSpPr>
          <p:cNvPr id="3" name="Text 1"/>
          <p:cNvSpPr/>
          <p:nvPr/>
        </p:nvSpPr>
        <p:spPr>
          <a:xfrm>
            <a:off x="10451592" y="2286000"/>
            <a:ext cx="4572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600" b="1" dirty="0">
                <a:solidFill>
                  <a:srgbClr val="00C7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]</a:t>
            </a:r>
            <a:endParaRPr lang="en-US" sz="6600" dirty="0"/>
          </a:p>
        </p:txBody>
      </p:sp>
      <p:sp>
        <p:nvSpPr>
          <p:cNvPr id="4" name="Text 2"/>
          <p:cNvSpPr/>
          <p:nvPr/>
        </p:nvSpPr>
        <p:spPr>
          <a:xfrm>
            <a:off x="1280160" y="2423160"/>
            <a:ext cx="96286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kern="0" spc="300" dirty="0">
                <a:solidFill>
                  <a:srgbClr val="00C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0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1280160" y="2880360"/>
            <a:ext cx="962863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Recap &amp; Today's Goal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2194560" y="3931920"/>
            <a:ext cx="77998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AFC6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“it runs” to “it's provably good”</a:t>
            </a:r>
            <a:endParaRPr lang="en-US" sz="1400" dirty="0"/>
          </a:p>
        </p:txBody>
      </p:sp>
      <p:pic>
        <p:nvPicPr>
          <p:cNvPr id="7" name="Image 0" descr="/home/claude/day2deck/logo_dark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6291072"/>
            <a:ext cx="384048" cy="38404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005840" y="6327648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FC6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  ·  AI CLINICAL DECISION SUPPORT LITE HACKATHON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11274552" y="6327648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FC6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900" dirty="0"/>
          </a:p>
        </p:txBody>
      </p:sp>
      <p:pic>
        <p:nvPicPr>
          <p:cNvPr id="10" name="Google Shape;90;p1">
            <a:extLst>
              <a:ext uri="{FF2B5EF4-FFF2-40B4-BE49-F238E27FC236}">
                <a16:creationId xmlns:a16="http://schemas.microsoft.com/office/drawing/2014/main" id="{54F01899-18DB-4912-A8B2-566047FAE2C4}"/>
              </a:ext>
            </a:extLst>
          </p:cNvPr>
          <p:cNvPicPr preferRelativeResize="0"/>
          <p:nvPr/>
        </p:nvPicPr>
        <p:blipFill>
          <a:blip r:embed="rId4"/>
          <a:srcRect/>
          <a:stretch/>
        </p:blipFill>
        <p:spPr>
          <a:xfrm>
            <a:off x="10510684" y="-9329"/>
            <a:ext cx="1681316" cy="155349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0C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0 — RECAP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9144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You Walked In With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920240"/>
            <a:ext cx="3520440" cy="1828800"/>
          </a:xfrm>
          <a:prstGeom prst="roundRect">
            <a:avLst>
              <a:gd name="adj" fmla="val 4000"/>
            </a:avLst>
          </a:prstGeom>
          <a:solidFill>
            <a:srgbClr val="F1F5FC"/>
          </a:solidFill>
          <a:ln w="12700">
            <a:solidFill>
              <a:srgbClr val="DCE6F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2148840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F307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parsed source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822960" y="2697480"/>
            <a:ext cx="2971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1–2 clinical guidelines, structure preserved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4343400" y="1920240"/>
            <a:ext cx="3520440" cy="1828800"/>
          </a:xfrm>
          <a:prstGeom prst="roundRect">
            <a:avLst>
              <a:gd name="adj" fmla="val 4000"/>
            </a:avLst>
          </a:prstGeom>
          <a:solidFill>
            <a:srgbClr val="F1F5FC"/>
          </a:solidFill>
          <a:ln w="12700">
            <a:solidFill>
              <a:srgbClr val="DCE6F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617720" y="2148840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F307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chunking strategy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4617720" y="2697480"/>
            <a:ext cx="2971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Fixed-size, section-aware, or hierarchical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8138160" y="1920240"/>
            <a:ext cx="3520440" cy="1828800"/>
          </a:xfrm>
          <a:prstGeom prst="roundRect">
            <a:avLst>
              <a:gd name="adj" fmla="val 4000"/>
            </a:avLst>
          </a:prstGeom>
          <a:solidFill>
            <a:srgbClr val="F1F5FC"/>
          </a:solidFill>
          <a:ln w="12700">
            <a:solidFill>
              <a:srgbClr val="DCE6F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412480" y="2148840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F307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vector index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8412480" y="2697480"/>
            <a:ext cx="2971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Embedded chunks with document/section/page metadata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48640" y="4160520"/>
            <a:ext cx="10881360" cy="1188720"/>
          </a:xfrm>
          <a:prstGeom prst="roundRect">
            <a:avLst>
              <a:gd name="adj" fmla="val 6154"/>
            </a:avLst>
          </a:prstGeom>
          <a:solidFill>
            <a:srgbClr val="0F307F"/>
          </a:solidFill>
          <a:ln/>
        </p:spPr>
      </p:sp>
      <p:sp>
        <p:nvSpPr>
          <p:cNvPr id="14" name="Text 12"/>
          <p:cNvSpPr/>
          <p:nvPr/>
        </p:nvSpPr>
        <p:spPr>
          <a:xfrm>
            <a:off x="914400" y="4160520"/>
            <a:ext cx="101498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What's missing: proof that any of it actually retrieves the right thing.</a:t>
            </a:r>
            <a:endParaRPr lang="en-US" sz="1800" dirty="0"/>
          </a:p>
        </p:txBody>
      </p:sp>
      <p:pic>
        <p:nvPicPr>
          <p:cNvPr id="15" name="Image 0" descr="/home/claude/day2deck/logo_ligh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6291072"/>
            <a:ext cx="384048" cy="384048"/>
          </a:xfrm>
          <a:prstGeom prst="rect">
            <a:avLst/>
          </a:prstGeom>
        </p:spPr>
      </p:pic>
      <p:sp>
        <p:nvSpPr>
          <p:cNvPr id="16" name="Text 13"/>
          <p:cNvSpPr/>
          <p:nvPr/>
        </p:nvSpPr>
        <p:spPr>
          <a:xfrm>
            <a:off x="1005840" y="6327648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  ·  AI CLINICAL DECISION SUPPORT LITE HACKATHON</a:t>
            </a:r>
            <a:endParaRPr lang="en-US" sz="900" dirty="0"/>
          </a:p>
        </p:txBody>
      </p:sp>
      <p:sp>
        <p:nvSpPr>
          <p:cNvPr id="17" name="Text 14"/>
          <p:cNvSpPr/>
          <p:nvPr/>
        </p:nvSpPr>
        <p:spPr>
          <a:xfrm>
            <a:off x="11274552" y="6327648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900" dirty="0"/>
          </a:p>
        </p:txBody>
      </p:sp>
      <p:pic>
        <p:nvPicPr>
          <p:cNvPr id="18" name="Google Shape;90;p1">
            <a:extLst>
              <a:ext uri="{FF2B5EF4-FFF2-40B4-BE49-F238E27FC236}">
                <a16:creationId xmlns:a16="http://schemas.microsoft.com/office/drawing/2014/main" id="{1E99356E-C146-4FC8-9E64-99E5A7E15640}"/>
              </a:ext>
            </a:extLst>
          </p:cNvPr>
          <p:cNvPicPr preferRelativeResize="0"/>
          <p:nvPr/>
        </p:nvPicPr>
        <p:blipFill>
          <a:blip r:embed="rId4"/>
          <a:srcRect/>
          <a:stretch/>
        </p:blipFill>
        <p:spPr>
          <a:xfrm>
            <a:off x="10510684" y="-9329"/>
            <a:ext cx="1681316" cy="155349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0C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0 — THE GOAL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0332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 Index That Runs Isn't an Index That Works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783080"/>
            <a:ext cx="10241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Yesterday you built a pipeline. Today you make it defensible: tuned search parameters, a benchmarked embedding model, and full transparency into what gets retrieved and why.</a:t>
            </a:r>
            <a:endParaRPr lang="en-US" sz="1550" dirty="0"/>
          </a:p>
        </p:txBody>
      </p:sp>
      <p:sp>
        <p:nvSpPr>
          <p:cNvPr id="5" name="Shape 3"/>
          <p:cNvSpPr/>
          <p:nvPr/>
        </p:nvSpPr>
        <p:spPr>
          <a:xfrm>
            <a:off x="548640" y="3108960"/>
            <a:ext cx="2514600" cy="1737360"/>
          </a:xfrm>
          <a:prstGeom prst="roundRect">
            <a:avLst>
              <a:gd name="adj" fmla="val 4211"/>
            </a:avLst>
          </a:prstGeom>
          <a:solidFill>
            <a:srgbClr val="0F307F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3291840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C7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31520" y="3703320"/>
            <a:ext cx="2148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</a:t>
            </a:r>
            <a:endParaRPr lang="en-US" sz="1300" dirty="0"/>
          </a:p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Fundamentals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063240" y="3749040"/>
            <a:ext cx="228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F30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3337560" y="3108960"/>
            <a:ext cx="2514600" cy="1737360"/>
          </a:xfrm>
          <a:prstGeom prst="roundRect">
            <a:avLst>
              <a:gd name="adj" fmla="val 4211"/>
            </a:avLst>
          </a:prstGeom>
          <a:solidFill>
            <a:srgbClr val="163B95"/>
          </a:solidFill>
          <a:ln/>
        </p:spPr>
      </p:sp>
      <p:sp>
        <p:nvSpPr>
          <p:cNvPr id="10" name="Text 8"/>
          <p:cNvSpPr/>
          <p:nvPr/>
        </p:nvSpPr>
        <p:spPr>
          <a:xfrm>
            <a:off x="3520440" y="3291840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C7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3520440" y="3703320"/>
            <a:ext cx="2148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Chunk &amp; Overlap</a:t>
            </a:r>
            <a:endParaRPr lang="en-US" sz="1300" dirty="0"/>
          </a:p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Tuning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852160" y="3749040"/>
            <a:ext cx="228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F30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6126480" y="3108960"/>
            <a:ext cx="2514600" cy="1737360"/>
          </a:xfrm>
          <a:prstGeom prst="roundRect">
            <a:avLst>
              <a:gd name="adj" fmla="val 4211"/>
            </a:avLst>
          </a:prstGeom>
          <a:solidFill>
            <a:srgbClr val="0F307F"/>
          </a:solidFill>
          <a:ln/>
        </p:spPr>
      </p:sp>
      <p:sp>
        <p:nvSpPr>
          <p:cNvPr id="14" name="Text 12"/>
          <p:cNvSpPr/>
          <p:nvPr/>
        </p:nvSpPr>
        <p:spPr>
          <a:xfrm>
            <a:off x="6309360" y="3291840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C7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309360" y="3703320"/>
            <a:ext cx="2148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</a:t>
            </a:r>
            <a:endParaRPr lang="en-US" sz="1300" dirty="0"/>
          </a:p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Benchmarking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8641080" y="3749040"/>
            <a:ext cx="228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F30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8915400" y="3108960"/>
            <a:ext cx="2514600" cy="1737360"/>
          </a:xfrm>
          <a:prstGeom prst="roundRect">
            <a:avLst>
              <a:gd name="adj" fmla="val 4211"/>
            </a:avLst>
          </a:prstGeom>
          <a:solidFill>
            <a:srgbClr val="163B95"/>
          </a:solidFill>
          <a:ln/>
        </p:spPr>
      </p:sp>
      <p:sp>
        <p:nvSpPr>
          <p:cNvPr id="18" name="Text 16"/>
          <p:cNvSpPr/>
          <p:nvPr/>
        </p:nvSpPr>
        <p:spPr>
          <a:xfrm>
            <a:off x="9098280" y="3291840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C7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9098280" y="3703320"/>
            <a:ext cx="2148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Explainability</a:t>
            </a:r>
            <a:endParaRPr lang="en-US" sz="1300" dirty="0"/>
          </a:p>
        </p:txBody>
      </p:sp>
      <p:pic>
        <p:nvPicPr>
          <p:cNvPr id="20" name="Image 0" descr="/home/claude/day2deck/logo_ligh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6291072"/>
            <a:ext cx="384048" cy="384048"/>
          </a:xfrm>
          <a:prstGeom prst="rect">
            <a:avLst/>
          </a:prstGeom>
        </p:spPr>
      </p:pic>
      <p:sp>
        <p:nvSpPr>
          <p:cNvPr id="21" name="Text 18"/>
          <p:cNvSpPr/>
          <p:nvPr/>
        </p:nvSpPr>
        <p:spPr>
          <a:xfrm>
            <a:off x="1005840" y="6327648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  ·  AI CLINICAL DECISION SUPPORT LITE HACKATHON</a:t>
            </a:r>
            <a:endParaRPr lang="en-US" sz="900" dirty="0"/>
          </a:p>
        </p:txBody>
      </p:sp>
      <p:sp>
        <p:nvSpPr>
          <p:cNvPr id="22" name="Text 19"/>
          <p:cNvSpPr/>
          <p:nvPr/>
        </p:nvSpPr>
        <p:spPr>
          <a:xfrm>
            <a:off x="11274552" y="6327648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900" dirty="0"/>
          </a:p>
        </p:txBody>
      </p:sp>
      <p:pic>
        <p:nvPicPr>
          <p:cNvPr id="23" name="Google Shape;90;p1">
            <a:extLst>
              <a:ext uri="{FF2B5EF4-FFF2-40B4-BE49-F238E27FC236}">
                <a16:creationId xmlns:a16="http://schemas.microsoft.com/office/drawing/2014/main" id="{18684FF3-3FC0-462E-B2D1-BC714A83D417}"/>
              </a:ext>
            </a:extLst>
          </p:cNvPr>
          <p:cNvPicPr preferRelativeResize="0"/>
          <p:nvPr/>
        </p:nvPicPr>
        <p:blipFill>
          <a:blip r:embed="rId4"/>
          <a:srcRect/>
          <a:stretch/>
        </p:blipFill>
        <p:spPr>
          <a:xfrm>
            <a:off x="10510684" y="-9329"/>
            <a:ext cx="1681316" cy="155349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307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80160" y="2286000"/>
            <a:ext cx="4572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6600" b="1" dirty="0">
                <a:solidFill>
                  <a:srgbClr val="00C7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[</a:t>
            </a:r>
            <a:endParaRPr lang="en-US" sz="6600" dirty="0"/>
          </a:p>
        </p:txBody>
      </p:sp>
      <p:sp>
        <p:nvSpPr>
          <p:cNvPr id="3" name="Text 1"/>
          <p:cNvSpPr/>
          <p:nvPr/>
        </p:nvSpPr>
        <p:spPr>
          <a:xfrm>
            <a:off x="10451592" y="2286000"/>
            <a:ext cx="4572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600" b="1" dirty="0">
                <a:solidFill>
                  <a:srgbClr val="00C7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]</a:t>
            </a:r>
            <a:endParaRPr lang="en-US" sz="6600" dirty="0"/>
          </a:p>
        </p:txBody>
      </p:sp>
      <p:sp>
        <p:nvSpPr>
          <p:cNvPr id="4" name="Text 2"/>
          <p:cNvSpPr/>
          <p:nvPr/>
        </p:nvSpPr>
        <p:spPr>
          <a:xfrm>
            <a:off x="1280160" y="2423160"/>
            <a:ext cx="96286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kern="0" spc="300" dirty="0">
                <a:solidFill>
                  <a:srgbClr val="00C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1280160" y="2880360"/>
            <a:ext cx="962863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Semantic Search Fundamentals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2194560" y="3931920"/>
            <a:ext cx="77998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AFC6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a vector index turns a question into ranked evidence</a:t>
            </a:r>
            <a:endParaRPr lang="en-US" sz="1400" dirty="0"/>
          </a:p>
        </p:txBody>
      </p:sp>
      <p:pic>
        <p:nvPicPr>
          <p:cNvPr id="7" name="Image 0" descr="/home/claude/day2deck/logo_dark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6291072"/>
            <a:ext cx="384048" cy="38404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005840" y="6327648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FC6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  ·  AI CLINICAL DECISION SUPPORT LITE HACKATHON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11274552" y="6327648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FC6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900" dirty="0"/>
          </a:p>
        </p:txBody>
      </p:sp>
      <p:pic>
        <p:nvPicPr>
          <p:cNvPr id="10" name="Google Shape;90;p1">
            <a:extLst>
              <a:ext uri="{FF2B5EF4-FFF2-40B4-BE49-F238E27FC236}">
                <a16:creationId xmlns:a16="http://schemas.microsoft.com/office/drawing/2014/main" id="{A84B25CA-B20C-4F40-A1F9-714E80878230}"/>
              </a:ext>
            </a:extLst>
          </p:cNvPr>
          <p:cNvPicPr preferRelativeResize="0"/>
          <p:nvPr/>
        </p:nvPicPr>
        <p:blipFill>
          <a:blip r:embed="rId4"/>
          <a:srcRect/>
          <a:stretch/>
        </p:blipFill>
        <p:spPr>
          <a:xfrm>
            <a:off x="10510684" y="-9329"/>
            <a:ext cx="1681316" cy="155349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0C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 — THE MECHANICS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9601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Question to Ranked Evidence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920240"/>
            <a:ext cx="3520440" cy="3291840"/>
          </a:xfrm>
          <a:prstGeom prst="roundRect">
            <a:avLst>
              <a:gd name="adj" fmla="val 2222"/>
            </a:avLst>
          </a:prstGeom>
          <a:solidFill>
            <a:srgbClr val="F1F5FC"/>
          </a:solidFill>
          <a:ln w="12700">
            <a:solidFill>
              <a:srgbClr val="DCE6F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2194560"/>
            <a:ext cx="502920" cy="502920"/>
          </a:xfrm>
          <a:prstGeom prst="roundRect">
            <a:avLst>
              <a:gd name="adj" fmla="val 12727"/>
            </a:avLst>
          </a:prstGeom>
          <a:solidFill>
            <a:srgbClr val="0F307F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21945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0C7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22960" y="2834640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F307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Embed the Query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822960" y="3429000"/>
            <a:ext cx="29718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clinician's question is converted into the same vector space as your chunks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343400" y="1920240"/>
            <a:ext cx="3520440" cy="3291840"/>
          </a:xfrm>
          <a:prstGeom prst="roundRect">
            <a:avLst>
              <a:gd name="adj" fmla="val 2222"/>
            </a:avLst>
          </a:prstGeom>
          <a:solidFill>
            <a:srgbClr val="F1F5FC"/>
          </a:solidFill>
          <a:ln w="12700">
            <a:solidFill>
              <a:srgbClr val="DCE6F7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617720" y="2194560"/>
            <a:ext cx="502920" cy="502920"/>
          </a:xfrm>
          <a:prstGeom prst="roundRect">
            <a:avLst>
              <a:gd name="adj" fmla="val 12727"/>
            </a:avLst>
          </a:prstGeom>
          <a:solidFill>
            <a:srgbClr val="0F307F"/>
          </a:solidFill>
          <a:ln/>
        </p:spPr>
      </p:sp>
      <p:sp>
        <p:nvSpPr>
          <p:cNvPr id="11" name="Text 9"/>
          <p:cNvSpPr/>
          <p:nvPr/>
        </p:nvSpPr>
        <p:spPr>
          <a:xfrm>
            <a:off x="4617720" y="21945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0C7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4617720" y="2834640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F307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Compare Vectors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4617720" y="3429000"/>
            <a:ext cx="29718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Similarity is measured between the query vector and every indexed chunk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8138160" y="1920240"/>
            <a:ext cx="3520440" cy="3291840"/>
          </a:xfrm>
          <a:prstGeom prst="roundRect">
            <a:avLst>
              <a:gd name="adj" fmla="val 2222"/>
            </a:avLst>
          </a:prstGeom>
          <a:solidFill>
            <a:srgbClr val="F1F5FC"/>
          </a:solidFill>
          <a:ln w="12700">
            <a:solidFill>
              <a:srgbClr val="DCE6F7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412480" y="2194560"/>
            <a:ext cx="502920" cy="502920"/>
          </a:xfrm>
          <a:prstGeom prst="roundRect">
            <a:avLst>
              <a:gd name="adj" fmla="val 12727"/>
            </a:avLst>
          </a:prstGeom>
          <a:solidFill>
            <a:srgbClr val="0F307F"/>
          </a:solidFill>
          <a:ln/>
        </p:spPr>
      </p:sp>
      <p:sp>
        <p:nvSpPr>
          <p:cNvPr id="16" name="Text 14"/>
          <p:cNvSpPr/>
          <p:nvPr/>
        </p:nvSpPr>
        <p:spPr>
          <a:xfrm>
            <a:off x="8412480" y="21945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0C7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8412480" y="2834640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F307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Rank &amp; Return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8412480" y="3429000"/>
            <a:ext cx="29718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top-k most similar chunks are returned, most relevant first</a:t>
            </a:r>
            <a:endParaRPr lang="en-US" sz="1300" dirty="0"/>
          </a:p>
        </p:txBody>
      </p:sp>
      <p:pic>
        <p:nvPicPr>
          <p:cNvPr id="19" name="Image 0" descr="/home/claude/day2deck/logo_ligh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6291072"/>
            <a:ext cx="384048" cy="384048"/>
          </a:xfrm>
          <a:prstGeom prst="rect">
            <a:avLst/>
          </a:prstGeom>
        </p:spPr>
      </p:pic>
      <p:sp>
        <p:nvSpPr>
          <p:cNvPr id="20" name="Text 17"/>
          <p:cNvSpPr/>
          <p:nvPr/>
        </p:nvSpPr>
        <p:spPr>
          <a:xfrm>
            <a:off x="1005840" y="6327648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  ·  AI CLINICAL DECISION SUPPORT LITE HACKATHON</a:t>
            </a:r>
            <a:endParaRPr lang="en-US" sz="900" dirty="0"/>
          </a:p>
        </p:txBody>
      </p:sp>
      <p:sp>
        <p:nvSpPr>
          <p:cNvPr id="21" name="Text 18"/>
          <p:cNvSpPr/>
          <p:nvPr/>
        </p:nvSpPr>
        <p:spPr>
          <a:xfrm>
            <a:off x="11274552" y="6327648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900" dirty="0"/>
          </a:p>
        </p:txBody>
      </p:sp>
      <p:pic>
        <p:nvPicPr>
          <p:cNvPr id="22" name="Google Shape;90;p1">
            <a:extLst>
              <a:ext uri="{FF2B5EF4-FFF2-40B4-BE49-F238E27FC236}">
                <a16:creationId xmlns:a16="http://schemas.microsoft.com/office/drawing/2014/main" id="{47DE802B-5B5F-453B-B6AB-391EE5E4208F}"/>
              </a:ext>
            </a:extLst>
          </p:cNvPr>
          <p:cNvPicPr preferRelativeResize="0"/>
          <p:nvPr/>
        </p:nvPicPr>
        <p:blipFill>
          <a:blip r:embed="rId4"/>
          <a:srcRect/>
          <a:stretch/>
        </p:blipFill>
        <p:spPr>
          <a:xfrm>
            <a:off x="10510684" y="-9329"/>
            <a:ext cx="1681316" cy="155349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0C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 — THE MATH, BRIEFLY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9601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Measuring “Closeness” in Meaning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737360"/>
            <a:ext cx="56692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Cosine similarity measures the angle between two vectors — not their length. Two chunks about the same clinical concept point in a similar direction in vector space, even if one is longer than the other.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48640" y="3566160"/>
            <a:ext cx="5669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30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range: -1 to 1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48640" y="3931920"/>
            <a:ext cx="5669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practice, most relevant clinical chunks score 0.7 – 0.95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537960" y="1737360"/>
            <a:ext cx="5074920" cy="3794760"/>
          </a:xfrm>
          <a:prstGeom prst="roundRect">
            <a:avLst>
              <a:gd name="adj" fmla="val 1928"/>
            </a:avLst>
          </a:prstGeom>
          <a:solidFill>
            <a:srgbClr val="0F307F"/>
          </a:solidFill>
          <a:ln/>
        </p:spPr>
      </p:sp>
      <p:sp>
        <p:nvSpPr>
          <p:cNvPr id="8" name="Text 6"/>
          <p:cNvSpPr/>
          <p:nvPr/>
        </p:nvSpPr>
        <p:spPr>
          <a:xfrm>
            <a:off x="6903720" y="2011680"/>
            <a:ext cx="457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520" b="1" dirty="0">
                <a:solidFill>
                  <a:srgbClr val="00C7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[</a:t>
            </a:r>
            <a:endParaRPr lang="en-US" sz="3520" dirty="0"/>
          </a:p>
        </p:txBody>
      </p:sp>
      <p:sp>
        <p:nvSpPr>
          <p:cNvPr id="9" name="Text 7"/>
          <p:cNvSpPr/>
          <p:nvPr/>
        </p:nvSpPr>
        <p:spPr>
          <a:xfrm>
            <a:off x="10789920" y="2011680"/>
            <a:ext cx="457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3520" b="1" dirty="0">
                <a:solidFill>
                  <a:srgbClr val="00C7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]</a:t>
            </a:r>
            <a:endParaRPr lang="en-US" sz="3520" dirty="0"/>
          </a:p>
        </p:txBody>
      </p:sp>
      <p:sp>
        <p:nvSpPr>
          <p:cNvPr id="10" name="Text 8"/>
          <p:cNvSpPr/>
          <p:nvPr/>
        </p:nvSpPr>
        <p:spPr>
          <a:xfrm>
            <a:off x="6903720" y="2286000"/>
            <a:ext cx="4343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C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 of Thumb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903720" y="2743200"/>
            <a:ext cx="4343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Similar meaning,</a:t>
            </a:r>
            <a:endParaRPr lang="en-US" sz="2300" dirty="0"/>
          </a:p>
          <a:p>
            <a:pPr marL="0" indent="0" algn="ctr">
              <a:buNone/>
            </a:pPr>
            <a:r>
              <a:rPr lang="en-US" sz="2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not similar wording.</a:t>
            </a:r>
            <a:endParaRPr lang="en-US" sz="2300" dirty="0"/>
          </a:p>
        </p:txBody>
      </p:sp>
      <p:sp>
        <p:nvSpPr>
          <p:cNvPr id="12" name="Text 10"/>
          <p:cNvSpPr/>
          <p:nvPr/>
        </p:nvSpPr>
        <p:spPr>
          <a:xfrm>
            <a:off x="6903720" y="3794760"/>
            <a:ext cx="43434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AFC6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“First-line treatment for hypertension” and “initial therapy for high blood pressure” should score close together, even with zero shared keywords.</a:t>
            </a:r>
            <a:endParaRPr lang="en-US" sz="1250" dirty="0"/>
          </a:p>
        </p:txBody>
      </p:sp>
      <p:pic>
        <p:nvPicPr>
          <p:cNvPr id="13" name="Image 0" descr="/home/claude/day2deck/logo_ligh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6291072"/>
            <a:ext cx="384048" cy="384048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1005840" y="6327648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  ·  AI CLINICAL DECISION SUPPORT LITE HACKATHON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11274552" y="6327648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900" dirty="0"/>
          </a:p>
        </p:txBody>
      </p:sp>
      <p:pic>
        <p:nvPicPr>
          <p:cNvPr id="16" name="Google Shape;90;p1">
            <a:extLst>
              <a:ext uri="{FF2B5EF4-FFF2-40B4-BE49-F238E27FC236}">
                <a16:creationId xmlns:a16="http://schemas.microsoft.com/office/drawing/2014/main" id="{404BFF36-CEBD-4714-91A6-AD7D2C2480DE}"/>
              </a:ext>
            </a:extLst>
          </p:cNvPr>
          <p:cNvPicPr preferRelativeResize="0"/>
          <p:nvPr/>
        </p:nvPicPr>
        <p:blipFill>
          <a:blip r:embed="rId4"/>
          <a:srcRect/>
          <a:stretch/>
        </p:blipFill>
        <p:spPr>
          <a:xfrm>
            <a:off x="10510684" y="-9329"/>
            <a:ext cx="1681316" cy="155349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0C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 — TUNING K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9601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k Is Your First Real Decision</a:t>
            </a:r>
            <a:endParaRPr lang="en-US" sz="32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828800"/>
          <a:ext cx="11064240" cy="2468880"/>
        </p:xfrm>
        <a:graphic>
          <a:graphicData uri="http://schemas.openxmlformats.org/drawingml/2006/table">
            <a:tbl>
              <a:tblPr/>
              <a:tblGrid>
                <a:gridCol w="2926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805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172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 value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54864" marB="54864" anchor="ctr">
                    <a:lnL w="9525" cap="flat" cmpd="sng" algn="ctr">
                      <a:solidFill>
                        <a:srgbClr val="DC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307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Effect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54864" marB="54864" anchor="ctr">
                    <a:lnL w="9525" cap="flat" cmpd="sng" algn="ctr">
                      <a:solidFill>
                        <a:srgbClr val="DC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307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Risk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54864" marB="54864" anchor="ctr">
                    <a:lnL w="9525" cap="flat" cmpd="sng" algn="ctr">
                      <a:solidFill>
                        <a:srgbClr val="DC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307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172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F307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Too low (k=1–2)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54864" marB="54864" anchor="ctr">
                    <a:lnL w="9525" cap="flat" cmpd="sng" algn="ctr">
                      <a:solidFill>
                        <a:srgbClr val="DC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A2A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Very focused context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54864" marB="54864" anchor="ctr">
                    <a:lnL w="9525" cap="flat" cmpd="sng" algn="ctr">
                      <a:solidFill>
                        <a:srgbClr val="DC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A2A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Misses relevant evidence in other sections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54864" marB="54864" anchor="ctr">
                    <a:lnL w="9525" cap="flat" cmpd="sng" algn="ctr">
                      <a:solidFill>
                        <a:srgbClr val="DC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172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F307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Balanced (k=3–5)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54864" marB="54864" anchor="ctr">
                    <a:lnL w="9525" cap="flat" cmpd="sng" algn="ctr">
                      <a:solidFill>
                        <a:srgbClr val="DC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A2A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Good coverage, manageable context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54864" marB="54864" anchor="ctr">
                    <a:lnL w="9525" cap="flat" cmpd="sng" algn="ctr">
                      <a:solidFill>
                        <a:srgbClr val="DC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A2A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Usually the right starting point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54864" marB="54864" anchor="ctr">
                    <a:lnL w="9525" cap="flat" cmpd="sng" algn="ctr">
                      <a:solidFill>
                        <a:srgbClr val="DC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172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F307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Too high (k=10+)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54864" marB="54864" anchor="ctr">
                    <a:lnL w="9525" cap="flat" cmpd="sng" algn="ctr">
                      <a:solidFill>
                        <a:srgbClr val="DC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A2A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Broad coverage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54864" marB="54864" anchor="ctr">
                    <a:lnL w="9525" cap="flat" cmpd="sng" algn="ctr">
                      <a:solidFill>
                        <a:srgbClr val="DC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A2A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Dilutes context, invites contradictory or irrelevant chunks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54864" marB="54864" anchor="ctr">
                    <a:lnL w="9525" cap="flat" cmpd="sng" algn="ctr">
                      <a:solidFill>
                        <a:srgbClr val="DC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48640" y="452628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at k=4 today, then adjust based on your Precision@k results this afternoon.</a:t>
            </a:r>
            <a:endParaRPr lang="en-US" sz="1300" dirty="0"/>
          </a:p>
        </p:txBody>
      </p:sp>
      <p:pic>
        <p:nvPicPr>
          <p:cNvPr id="6" name="Image 0" descr="/home/claude/day2deck/logo_ligh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6291072"/>
            <a:ext cx="384048" cy="384048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005840" y="6327648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  ·  AI CLINICAL DECISION SUPPORT LITE HACKATHON</a:t>
            </a:r>
            <a:endParaRPr lang="en-US" sz="900" dirty="0"/>
          </a:p>
        </p:txBody>
      </p:sp>
      <p:sp>
        <p:nvSpPr>
          <p:cNvPr id="8" name="Text 4"/>
          <p:cNvSpPr/>
          <p:nvPr/>
        </p:nvSpPr>
        <p:spPr>
          <a:xfrm>
            <a:off x="11274552" y="6327648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  <p:pic>
        <p:nvPicPr>
          <p:cNvPr id="9" name="Google Shape;90;p1">
            <a:extLst>
              <a:ext uri="{FF2B5EF4-FFF2-40B4-BE49-F238E27FC236}">
                <a16:creationId xmlns:a16="http://schemas.microsoft.com/office/drawing/2014/main" id="{72609AB5-E578-4A24-B5E5-1463C5F72C1A}"/>
              </a:ext>
            </a:extLst>
          </p:cNvPr>
          <p:cNvPicPr preferRelativeResize="0"/>
          <p:nvPr/>
        </p:nvPicPr>
        <p:blipFill>
          <a:blip r:embed="rId4"/>
          <a:srcRect/>
          <a:stretch/>
        </p:blipFill>
        <p:spPr>
          <a:xfrm>
            <a:off x="10510684" y="-9329"/>
            <a:ext cx="1681316" cy="155349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F307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80160" y="2286000"/>
            <a:ext cx="4572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6600" b="1" dirty="0">
                <a:solidFill>
                  <a:srgbClr val="00C7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[</a:t>
            </a:r>
            <a:endParaRPr lang="en-US" sz="6600" dirty="0"/>
          </a:p>
        </p:txBody>
      </p:sp>
      <p:sp>
        <p:nvSpPr>
          <p:cNvPr id="3" name="Text 1"/>
          <p:cNvSpPr/>
          <p:nvPr/>
        </p:nvSpPr>
        <p:spPr>
          <a:xfrm>
            <a:off x="10451592" y="2286000"/>
            <a:ext cx="4572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600" b="1" dirty="0">
                <a:solidFill>
                  <a:srgbClr val="00C7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]</a:t>
            </a:r>
            <a:endParaRPr lang="en-US" sz="6600" dirty="0"/>
          </a:p>
        </p:txBody>
      </p:sp>
      <p:sp>
        <p:nvSpPr>
          <p:cNvPr id="4" name="Text 2"/>
          <p:cNvSpPr/>
          <p:nvPr/>
        </p:nvSpPr>
        <p:spPr>
          <a:xfrm>
            <a:off x="1280160" y="2423160"/>
            <a:ext cx="96286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kern="0" spc="300" dirty="0">
                <a:solidFill>
                  <a:srgbClr val="00C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2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1280160" y="2880360"/>
            <a:ext cx="962863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Chunk Size &amp; Overlap Tuning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2194560" y="3931920"/>
            <a:ext cx="77998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AFC6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chunking decision from Day 1 — now backed by numbers</a:t>
            </a:r>
            <a:endParaRPr lang="en-US" sz="1400" dirty="0"/>
          </a:p>
        </p:txBody>
      </p:sp>
      <p:pic>
        <p:nvPicPr>
          <p:cNvPr id="7" name="Image 0" descr="/home/claude/day2deck/logo_dark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6291072"/>
            <a:ext cx="384048" cy="38404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005840" y="6327648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FC6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  ·  AI CLINICAL DECISION SUPPORT LITE HACKATHON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11274552" y="6327648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FC6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  <p:pic>
        <p:nvPicPr>
          <p:cNvPr id="10" name="Google Shape;90;p1">
            <a:extLst>
              <a:ext uri="{FF2B5EF4-FFF2-40B4-BE49-F238E27FC236}">
                <a16:creationId xmlns:a16="http://schemas.microsoft.com/office/drawing/2014/main" id="{E30E17D6-AB2D-451D-A67E-F65AD2F1D3B7}"/>
              </a:ext>
            </a:extLst>
          </p:cNvPr>
          <p:cNvPicPr preferRelativeResize="0"/>
          <p:nvPr/>
        </p:nvPicPr>
        <p:blipFill>
          <a:blip r:embed="rId4"/>
          <a:srcRect/>
          <a:stretch/>
        </p:blipFill>
        <p:spPr>
          <a:xfrm>
            <a:off x="10510684" y="-9329"/>
            <a:ext cx="1681316" cy="155349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0C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2 — THE TRADE-OFF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9144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Neither Extreme Wins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874520"/>
            <a:ext cx="5349240" cy="3566160"/>
          </a:xfrm>
          <a:prstGeom prst="roundRect">
            <a:avLst>
              <a:gd name="adj" fmla="val 2051"/>
            </a:avLst>
          </a:prstGeom>
          <a:solidFill>
            <a:srgbClr val="163B95"/>
          </a:solidFill>
          <a:ln/>
        </p:spPr>
      </p:sp>
      <p:sp>
        <p:nvSpPr>
          <p:cNvPr id="5" name="Text 3"/>
          <p:cNvSpPr/>
          <p:nvPr/>
        </p:nvSpPr>
        <p:spPr>
          <a:xfrm>
            <a:off x="868680" y="2148840"/>
            <a:ext cx="4709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Chunks Too Small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868680" y="278892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C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188720" y="2788920"/>
            <a:ext cx="4343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AFC6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Loses surrounding context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868680" y="356616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C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188720" y="3566160"/>
            <a:ext cx="4343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AFC6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Fragments a single recommendation across chunks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868680" y="434340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C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188720" y="4343400"/>
            <a:ext cx="4343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AFC6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chunks to search = more noise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263640" y="1874520"/>
            <a:ext cx="5349240" cy="3566160"/>
          </a:xfrm>
          <a:prstGeom prst="roundRect">
            <a:avLst>
              <a:gd name="adj" fmla="val 2051"/>
            </a:avLst>
          </a:prstGeom>
          <a:solidFill>
            <a:srgbClr val="163B95"/>
          </a:solidFill>
          <a:ln/>
        </p:spPr>
      </p:sp>
      <p:sp>
        <p:nvSpPr>
          <p:cNvPr id="13" name="Text 11"/>
          <p:cNvSpPr/>
          <p:nvPr/>
        </p:nvSpPr>
        <p:spPr>
          <a:xfrm>
            <a:off x="6583680" y="2148840"/>
            <a:ext cx="4709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Chunks Too Large</a:t>
            </a:r>
            <a:endParaRPr lang="en-US" sz="1900" dirty="0"/>
          </a:p>
        </p:txBody>
      </p:sp>
      <p:sp>
        <p:nvSpPr>
          <p:cNvPr id="14" name="Text 12"/>
          <p:cNvSpPr/>
          <p:nvPr/>
        </p:nvSpPr>
        <p:spPr>
          <a:xfrm>
            <a:off x="6583680" y="278892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C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903720" y="2788920"/>
            <a:ext cx="4343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AFC6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Dilutes relevance — one chunk covers too many topics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6583680" y="356616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C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903720" y="3566160"/>
            <a:ext cx="4343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AFC6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Wastes context window on irrelevant text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6583680" y="434340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C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903720" y="4343400"/>
            <a:ext cx="4343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AFC6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Harder to cite a precise page/section</a:t>
            </a:r>
            <a:endParaRPr lang="en-US" sz="1250" dirty="0"/>
          </a:p>
        </p:txBody>
      </p:sp>
      <p:pic>
        <p:nvPicPr>
          <p:cNvPr id="20" name="Image 0" descr="/home/claude/day2deck/logo_ligh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6291072"/>
            <a:ext cx="384048" cy="384048"/>
          </a:xfrm>
          <a:prstGeom prst="rect">
            <a:avLst/>
          </a:prstGeom>
        </p:spPr>
      </p:pic>
      <p:sp>
        <p:nvSpPr>
          <p:cNvPr id="21" name="Text 18"/>
          <p:cNvSpPr/>
          <p:nvPr/>
        </p:nvSpPr>
        <p:spPr>
          <a:xfrm>
            <a:off x="1005840" y="6327648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  ·  AI CLINICAL DECISION SUPPORT LITE HACKATHON</a:t>
            </a:r>
            <a:endParaRPr lang="en-US" sz="900" dirty="0"/>
          </a:p>
        </p:txBody>
      </p:sp>
      <p:sp>
        <p:nvSpPr>
          <p:cNvPr id="22" name="Text 19"/>
          <p:cNvSpPr/>
          <p:nvPr/>
        </p:nvSpPr>
        <p:spPr>
          <a:xfrm>
            <a:off x="11274552" y="6327648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  <p:pic>
        <p:nvPicPr>
          <p:cNvPr id="23" name="Google Shape;90;p1">
            <a:extLst>
              <a:ext uri="{FF2B5EF4-FFF2-40B4-BE49-F238E27FC236}">
                <a16:creationId xmlns:a16="http://schemas.microsoft.com/office/drawing/2014/main" id="{A1127C92-9949-4DE8-B0C8-362A638ADDCC}"/>
              </a:ext>
            </a:extLst>
          </p:cNvPr>
          <p:cNvPicPr preferRelativeResize="0"/>
          <p:nvPr/>
        </p:nvPicPr>
        <p:blipFill>
          <a:blip r:embed="rId4"/>
          <a:srcRect/>
          <a:stretch/>
        </p:blipFill>
        <p:spPr>
          <a:xfrm>
            <a:off x="10510684" y="-9329"/>
            <a:ext cx="1681316" cy="155349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0C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2 — HANDS-ON METHOD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Design a Simple Ablation Experiment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691640"/>
            <a:ext cx="10241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don't need a research lab to test chunk parameters — you need three configurations, five test queries, and a way to compare results.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651760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00C7FF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26517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F307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280160" y="2606040"/>
            <a:ext cx="9966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3 configurations to test (e.g. 200/0, 400/50, 600/100 — size/overlap in tokens)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640080" y="3364992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00C7FF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33649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F307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280160" y="3319272"/>
            <a:ext cx="9966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Re-index the same source with each configuration</a:t>
            </a:r>
            <a:endParaRPr lang="en-US" sz="1450" dirty="0"/>
          </a:p>
        </p:txBody>
      </p:sp>
      <p:sp>
        <p:nvSpPr>
          <p:cNvPr id="11" name="Shape 9"/>
          <p:cNvSpPr/>
          <p:nvPr/>
        </p:nvSpPr>
        <p:spPr>
          <a:xfrm>
            <a:off x="640080" y="4078224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00C7FF"/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" y="407822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F307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280160" y="4032504"/>
            <a:ext cx="9966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the same 5 test queries against all three indexes</a:t>
            </a:r>
            <a:endParaRPr lang="en-US" sz="1450" dirty="0"/>
          </a:p>
        </p:txBody>
      </p:sp>
      <p:sp>
        <p:nvSpPr>
          <p:cNvPr id="14" name="Shape 12"/>
          <p:cNvSpPr/>
          <p:nvPr/>
        </p:nvSpPr>
        <p:spPr>
          <a:xfrm>
            <a:off x="640080" y="4791456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00C7FF"/>
          </a:solidFill>
          <a:ln/>
        </p:spPr>
      </p:sp>
      <p:sp>
        <p:nvSpPr>
          <p:cNvPr id="15" name="Text 13"/>
          <p:cNvSpPr/>
          <p:nvPr/>
        </p:nvSpPr>
        <p:spPr>
          <a:xfrm>
            <a:off x="640080" y="479145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F307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280160" y="4745736"/>
            <a:ext cx="9966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each result set for relevance and compare</a:t>
            </a:r>
            <a:endParaRPr lang="en-US" sz="1450" dirty="0"/>
          </a:p>
        </p:txBody>
      </p:sp>
      <p:pic>
        <p:nvPicPr>
          <p:cNvPr id="17" name="Image 0" descr="/home/claude/day2deck/logo_ligh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6291072"/>
            <a:ext cx="384048" cy="384048"/>
          </a:xfrm>
          <a:prstGeom prst="rect">
            <a:avLst/>
          </a:prstGeom>
        </p:spPr>
      </p:pic>
      <p:sp>
        <p:nvSpPr>
          <p:cNvPr id="18" name="Text 15"/>
          <p:cNvSpPr/>
          <p:nvPr/>
        </p:nvSpPr>
        <p:spPr>
          <a:xfrm>
            <a:off x="1005840" y="6327648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  ·  AI CLINICAL DECISION SUPPORT LITE HACKATHON</a:t>
            </a:r>
            <a:endParaRPr lang="en-US" sz="900" dirty="0"/>
          </a:p>
        </p:txBody>
      </p:sp>
      <p:sp>
        <p:nvSpPr>
          <p:cNvPr id="19" name="Text 16"/>
          <p:cNvSpPr/>
          <p:nvPr/>
        </p:nvSpPr>
        <p:spPr>
          <a:xfrm>
            <a:off x="11274552" y="6327648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  <p:pic>
        <p:nvPicPr>
          <p:cNvPr id="20" name="Google Shape;90;p1">
            <a:extLst>
              <a:ext uri="{FF2B5EF4-FFF2-40B4-BE49-F238E27FC236}">
                <a16:creationId xmlns:a16="http://schemas.microsoft.com/office/drawing/2014/main" id="{1B688801-C187-4E27-8FF2-9FB32DE5537B}"/>
              </a:ext>
            </a:extLst>
          </p:cNvPr>
          <p:cNvPicPr preferRelativeResize="0"/>
          <p:nvPr/>
        </p:nvPicPr>
        <p:blipFill>
          <a:blip r:embed="rId4"/>
          <a:srcRect/>
          <a:stretch/>
        </p:blipFill>
        <p:spPr>
          <a:xfrm>
            <a:off x="10510684" y="-9329"/>
            <a:ext cx="1681316" cy="155349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0C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2 — LOG YOUR RESULTS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9601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Log Template You Can Copy Now</a:t>
            </a:r>
            <a:endParaRPr lang="en-US" sz="30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828800"/>
          <a:ext cx="11064240" cy="2286000"/>
        </p:xfrm>
        <a:graphic>
          <a:graphicData uri="http://schemas.openxmlformats.org/drawingml/2006/table">
            <a:tbl>
              <a:tblPr/>
              <a:tblGrid>
                <a:gridCol w="2377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9260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9319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715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Chunk Size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54864" marB="54864" anchor="ctr">
                    <a:lnL w="9525" cap="flat" cmpd="sng" algn="ctr">
                      <a:solidFill>
                        <a:srgbClr val="DC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307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Overlap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54864" marB="54864" anchor="ctr">
                    <a:lnL w="9525" cap="flat" cmpd="sng" algn="ctr">
                      <a:solidFill>
                        <a:srgbClr val="DC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307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Avg. Relevance (1–5)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54864" marB="54864" anchor="ctr">
                    <a:lnL w="9525" cap="flat" cmpd="sng" algn="ctr">
                      <a:solidFill>
                        <a:srgbClr val="DC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307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Notes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54864" marB="54864" anchor="ctr">
                    <a:lnL w="9525" cap="flat" cmpd="sng" algn="ctr">
                      <a:solidFill>
                        <a:srgbClr val="DC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307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0F307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200 tokens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54864" marB="54864" anchor="ctr">
                    <a:lnL w="9525" cap="flat" cmpd="sng" algn="ctr">
                      <a:solidFill>
                        <a:srgbClr val="DC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A2A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54864" marB="54864" anchor="ctr">
                    <a:lnL w="9525" cap="flat" cmpd="sng" algn="ctr">
                      <a:solidFill>
                        <a:srgbClr val="DC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A2A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2.8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54864" marB="54864" anchor="ctr">
                    <a:lnL w="9525" cap="flat" cmpd="sng" algn="ctr">
                      <a:solidFill>
                        <a:srgbClr val="DC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A2A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Fragments tables mid-row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54864" marB="54864" anchor="ctr">
                    <a:lnL w="9525" cap="flat" cmpd="sng" algn="ctr">
                      <a:solidFill>
                        <a:srgbClr val="DC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0F307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400 tokens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54864" marB="54864" anchor="ctr">
                    <a:lnL w="9525" cap="flat" cmpd="sng" algn="ctr">
                      <a:solidFill>
                        <a:srgbClr val="DC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A2A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54864" marB="54864" anchor="ctr">
                    <a:lnL w="9525" cap="flat" cmpd="sng" algn="ctr">
                      <a:solidFill>
                        <a:srgbClr val="DC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A2A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4.1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54864" marB="54864" anchor="ctr">
                    <a:lnL w="9525" cap="flat" cmpd="sng" algn="ctr">
                      <a:solidFill>
                        <a:srgbClr val="DC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A2A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Best balance so far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54864" marB="54864" anchor="ctr">
                    <a:lnL w="9525" cap="flat" cmpd="sng" algn="ctr">
                      <a:solidFill>
                        <a:srgbClr val="DC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0F307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600 tokens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54864" marB="54864" anchor="ctr">
                    <a:lnL w="9525" cap="flat" cmpd="sng" algn="ctr">
                      <a:solidFill>
                        <a:srgbClr val="DC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A2A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54864" marB="54864" anchor="ctr">
                    <a:lnL w="9525" cap="flat" cmpd="sng" algn="ctr">
                      <a:solidFill>
                        <a:srgbClr val="DC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A2A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3.4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54864" marB="54864" anchor="ctr">
                    <a:lnL w="9525" cap="flat" cmpd="sng" algn="ctr">
                      <a:solidFill>
                        <a:srgbClr val="DC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A2A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Dilutes specific recommendations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54864" marB="54864" anchor="ctr">
                    <a:lnL w="9525" cap="flat" cmpd="sng" algn="ctr">
                      <a:solidFill>
                        <a:srgbClr val="DC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48640" y="4434840"/>
            <a:ext cx="10698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data shown for illustration — replace with your own team's results.</a:t>
            </a:r>
            <a:endParaRPr lang="en-US" sz="1200" dirty="0"/>
          </a:p>
        </p:txBody>
      </p:sp>
      <p:pic>
        <p:nvPicPr>
          <p:cNvPr id="6" name="Image 0" descr="/home/claude/day2deck/logo_ligh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6291072"/>
            <a:ext cx="384048" cy="384048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005840" y="6327648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  ·  AI CLINICAL DECISION SUPPORT LITE HACKATHON</a:t>
            </a:r>
            <a:endParaRPr lang="en-US" sz="900" dirty="0"/>
          </a:p>
        </p:txBody>
      </p:sp>
      <p:sp>
        <p:nvSpPr>
          <p:cNvPr id="8" name="Text 4"/>
          <p:cNvSpPr/>
          <p:nvPr/>
        </p:nvSpPr>
        <p:spPr>
          <a:xfrm>
            <a:off x="11274552" y="6327648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  <p:pic>
        <p:nvPicPr>
          <p:cNvPr id="9" name="Google Shape;90;p1">
            <a:extLst>
              <a:ext uri="{FF2B5EF4-FFF2-40B4-BE49-F238E27FC236}">
                <a16:creationId xmlns:a16="http://schemas.microsoft.com/office/drawing/2014/main" id="{375EAD49-C557-47FB-A2CA-64ABA54621C5}"/>
              </a:ext>
            </a:extLst>
          </p:cNvPr>
          <p:cNvPicPr preferRelativeResize="0"/>
          <p:nvPr/>
        </p:nvPicPr>
        <p:blipFill>
          <a:blip r:embed="rId4"/>
          <a:srcRect/>
          <a:stretch/>
        </p:blipFill>
        <p:spPr>
          <a:xfrm>
            <a:off x="10510684" y="-9329"/>
            <a:ext cx="1681316" cy="155349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F307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80160" y="2286000"/>
            <a:ext cx="4572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6600" b="1" dirty="0">
                <a:solidFill>
                  <a:srgbClr val="00C7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[</a:t>
            </a:r>
            <a:endParaRPr lang="en-US" sz="6600" dirty="0"/>
          </a:p>
        </p:txBody>
      </p:sp>
      <p:sp>
        <p:nvSpPr>
          <p:cNvPr id="3" name="Text 1"/>
          <p:cNvSpPr/>
          <p:nvPr/>
        </p:nvSpPr>
        <p:spPr>
          <a:xfrm>
            <a:off x="10451592" y="2286000"/>
            <a:ext cx="4572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600" b="1" dirty="0">
                <a:solidFill>
                  <a:srgbClr val="00C7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]</a:t>
            </a:r>
            <a:endParaRPr lang="en-US" sz="6600" dirty="0"/>
          </a:p>
        </p:txBody>
      </p:sp>
      <p:sp>
        <p:nvSpPr>
          <p:cNvPr id="4" name="Text 2"/>
          <p:cNvSpPr/>
          <p:nvPr/>
        </p:nvSpPr>
        <p:spPr>
          <a:xfrm>
            <a:off x="1280160" y="2423160"/>
            <a:ext cx="96286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kern="0" spc="300" dirty="0">
                <a:solidFill>
                  <a:srgbClr val="00C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3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1280160" y="2880360"/>
            <a:ext cx="962863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Embedding Model Evaluation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2194560" y="3931920"/>
            <a:ext cx="77998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AFC6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Choosing your model with evidence, not vibes</a:t>
            </a:r>
            <a:endParaRPr lang="en-US" sz="1400" dirty="0"/>
          </a:p>
        </p:txBody>
      </p:sp>
      <p:pic>
        <p:nvPicPr>
          <p:cNvPr id="7" name="Image 0" descr="/home/claude/day2deck/logo_dark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6291072"/>
            <a:ext cx="384048" cy="38404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005840" y="6327648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FC6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  ·  AI CLINICAL DECISION SUPPORT LITE HACKATHON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11274552" y="6327648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FC6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  <p:pic>
        <p:nvPicPr>
          <p:cNvPr id="10" name="Google Shape;90;p1">
            <a:extLst>
              <a:ext uri="{FF2B5EF4-FFF2-40B4-BE49-F238E27FC236}">
                <a16:creationId xmlns:a16="http://schemas.microsoft.com/office/drawing/2014/main" id="{8668E2AE-945B-4944-AA0D-D5DCDE1CC28A}"/>
              </a:ext>
            </a:extLst>
          </p:cNvPr>
          <p:cNvPicPr preferRelativeResize="0"/>
          <p:nvPr/>
        </p:nvPicPr>
        <p:blipFill>
          <a:blip r:embed="rId4"/>
          <a:srcRect/>
          <a:stretch/>
        </p:blipFill>
        <p:spPr>
          <a:xfrm>
            <a:off x="10510684" y="-9329"/>
            <a:ext cx="1681316" cy="155349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0C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3 — GROUND TRUTH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0332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Build a Test Set Before You Judge Anything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691640"/>
            <a:ext cx="10241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test set is 5–10 realistic clinical questions, each paired with the chunk(s) you already know should be retrieved. Without this, “better retrieval” is just an opinion.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2697480"/>
            <a:ext cx="10881360" cy="2880360"/>
          </a:xfrm>
          <a:prstGeom prst="roundRect">
            <a:avLst>
              <a:gd name="adj" fmla="val 2540"/>
            </a:avLst>
          </a:prstGeom>
          <a:solidFill>
            <a:srgbClr val="F1F5FC"/>
          </a:solidFill>
          <a:ln w="12700">
            <a:solidFill>
              <a:srgbClr val="DCE6F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2926080"/>
            <a:ext cx="10149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0F30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Test Case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914400" y="338328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Query: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2194560" y="3383280"/>
            <a:ext cx="8321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i="1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“What is the recommended screening interval for breast cancer in average-risk women?”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914400" y="393192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chunk: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2651760" y="393192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USPSTF, Section 3.2, Page 7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914400" y="448056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 condition: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2651760" y="448056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chunk appears in the top-k results</a:t>
            </a:r>
            <a:endParaRPr lang="en-US" sz="1350" dirty="0"/>
          </a:p>
        </p:txBody>
      </p:sp>
      <p:pic>
        <p:nvPicPr>
          <p:cNvPr id="13" name="Image 0" descr="/home/claude/day2deck/logo_ligh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6291072"/>
            <a:ext cx="384048" cy="384048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1005840" y="6327648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  ·  AI CLINICAL DECISION SUPPORT LITE HACKATHON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11274552" y="6327648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00" dirty="0"/>
          </a:p>
        </p:txBody>
      </p:sp>
      <p:pic>
        <p:nvPicPr>
          <p:cNvPr id="16" name="Google Shape;90;p1">
            <a:extLst>
              <a:ext uri="{FF2B5EF4-FFF2-40B4-BE49-F238E27FC236}">
                <a16:creationId xmlns:a16="http://schemas.microsoft.com/office/drawing/2014/main" id="{BBD3D610-3E46-45BA-8F70-2B3099E7F474}"/>
              </a:ext>
            </a:extLst>
          </p:cNvPr>
          <p:cNvPicPr preferRelativeResize="0"/>
          <p:nvPr/>
        </p:nvPicPr>
        <p:blipFill>
          <a:blip r:embed="rId4"/>
          <a:srcRect/>
          <a:stretch/>
        </p:blipFill>
        <p:spPr>
          <a:xfrm>
            <a:off x="10510684" y="-9329"/>
            <a:ext cx="1681316" cy="155349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0C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3 — THE METRIC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Retrieval Precision@k, in Plain Terms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10881360" cy="1554480"/>
          </a:xfrm>
          <a:prstGeom prst="roundRect">
            <a:avLst>
              <a:gd name="adj" fmla="val 4706"/>
            </a:avLst>
          </a:prstGeom>
          <a:solidFill>
            <a:srgbClr val="0F307F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1828800"/>
            <a:ext cx="101498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Precision@k  =  (relevant chunks in top-k)  ÷  k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548640" y="3657600"/>
            <a:ext cx="10241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you retrieve k=5 chunks for a query, and 3 of them are genuinely relevant to the answer. Precision@5 = 3 / 5 = 0.60.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548640" y="4297680"/>
            <a:ext cx="10241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this across your whole test set and average the scores — that single number is what you'll use to compare embedding models and chunking configurations.</a:t>
            </a:r>
            <a:endParaRPr lang="en-US" sz="1450" dirty="0"/>
          </a:p>
        </p:txBody>
      </p:sp>
      <p:pic>
        <p:nvPicPr>
          <p:cNvPr id="8" name="Image 0" descr="/home/claude/day2deck/logo_ligh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6291072"/>
            <a:ext cx="384048" cy="38404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005840" y="6327648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  ·  AI CLINICAL DECISION SUPPORT LITE HACKATHON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11274552" y="6327648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900" dirty="0"/>
          </a:p>
        </p:txBody>
      </p:sp>
      <p:pic>
        <p:nvPicPr>
          <p:cNvPr id="11" name="Google Shape;90;p1">
            <a:extLst>
              <a:ext uri="{FF2B5EF4-FFF2-40B4-BE49-F238E27FC236}">
                <a16:creationId xmlns:a16="http://schemas.microsoft.com/office/drawing/2014/main" id="{40C674F7-CAE2-410B-AAEC-FE0811085C4E}"/>
              </a:ext>
            </a:extLst>
          </p:cNvPr>
          <p:cNvPicPr preferRelativeResize="0"/>
          <p:nvPr/>
        </p:nvPicPr>
        <p:blipFill>
          <a:blip r:embed="rId4"/>
          <a:srcRect/>
          <a:stretch/>
        </p:blipFill>
        <p:spPr>
          <a:xfrm>
            <a:off x="10510684" y="-9329"/>
            <a:ext cx="1681316" cy="155349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0C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3 — HEAD-TO-HEAD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9601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Benchmark at Least Two Models</a:t>
            </a:r>
            <a:endParaRPr lang="en-US" sz="3200" dirty="0"/>
          </a:p>
        </p:txBody>
      </p:sp>
      <p:graphicFrame>
        <p:nvGraphicFramePr>
          <p:cNvPr id="2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828800"/>
          <a:ext cx="11064240" cy="2377440"/>
        </p:xfrm>
        <a:graphic>
          <a:graphicData uri="http://schemas.openxmlformats.org/drawingml/2006/table">
            <a:tbl>
              <a:tblPr/>
              <a:tblGrid>
                <a:gridCol w="32918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200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943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54864" marB="54864" anchor="ctr">
                    <a:lnL w="9525" cap="flat" cmpd="sng" algn="ctr">
                      <a:solidFill>
                        <a:srgbClr val="DC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307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Avg. Precision@5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54864" marB="54864" anchor="ctr">
                    <a:lnL w="9525" cap="flat" cmpd="sng" algn="ctr">
                      <a:solidFill>
                        <a:srgbClr val="DC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307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Latency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54864" marB="54864" anchor="ctr">
                    <a:lnL w="9525" cap="flat" cmpd="sng" algn="ctr">
                      <a:solidFill>
                        <a:srgbClr val="DC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307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Notes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54864" marB="54864" anchor="ctr">
                    <a:lnL w="9525" cap="flat" cmpd="sng" algn="ctr">
                      <a:solidFill>
                        <a:srgbClr val="DC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307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0F307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OpenAI text-embedding-3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54864" marB="54864" anchor="ctr">
                    <a:lnL w="9525" cap="flat" cmpd="sng" algn="ctr">
                      <a:solidFill>
                        <a:srgbClr val="DC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A2A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0.72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54864" marB="54864" anchor="ctr">
                    <a:lnL w="9525" cap="flat" cmpd="sng" algn="ctr">
                      <a:solidFill>
                        <a:srgbClr val="DC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A2A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Fast (API)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54864" marB="54864" anchor="ctr">
                    <a:lnL w="9525" cap="flat" cmpd="sng" algn="ctr">
                      <a:solidFill>
                        <a:srgbClr val="DC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A2A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Strong general performance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54864" marB="54864" anchor="ctr">
                    <a:lnL w="9525" cap="flat" cmpd="sng" algn="ctr">
                      <a:solidFill>
                        <a:srgbClr val="DC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0F307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Cohere embed-v3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54864" marB="54864" anchor="ctr">
                    <a:lnL w="9525" cap="flat" cmpd="sng" algn="ctr">
                      <a:solidFill>
                        <a:srgbClr val="DC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A2A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0.68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54864" marB="54864" anchor="ctr">
                    <a:lnL w="9525" cap="flat" cmpd="sng" algn="ctr">
                      <a:solidFill>
                        <a:srgbClr val="DC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A2A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Fast (API)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54864" marB="54864" anchor="ctr">
                    <a:lnL w="9525" cap="flat" cmpd="sng" algn="ctr">
                      <a:solidFill>
                        <a:srgbClr val="DC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A2A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Competitive, good on mixed phrasing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54864" marB="54864" anchor="ctr">
                    <a:lnL w="9525" cap="flat" cmpd="sng" algn="ctr">
                      <a:solidFill>
                        <a:srgbClr val="DC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0F307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sentence-transformers (local)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54864" marB="54864" anchor="ctr">
                    <a:lnL w="9525" cap="flat" cmpd="sng" algn="ctr">
                      <a:solidFill>
                        <a:srgbClr val="DC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A2A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0.61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54864" marB="54864" anchor="ctr">
                    <a:lnL w="9525" cap="flat" cmpd="sng" algn="ctr">
                      <a:solidFill>
                        <a:srgbClr val="DC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A2A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Depends on hardware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54864" marB="54864" anchor="ctr">
                    <a:lnL w="9525" cap="flat" cmpd="sng" algn="ctr">
                      <a:solidFill>
                        <a:srgbClr val="DC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A2A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Free, but needs local tuning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54864" marB="54864" anchor="ctr">
                    <a:lnL w="9525" cap="flat" cmpd="sng" algn="ctr">
                      <a:solidFill>
                        <a:srgbClr val="DC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48640" y="4480560"/>
            <a:ext cx="10698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numbers for illustration — your judges will ask for your team's actual scores.</a:t>
            </a:r>
            <a:endParaRPr lang="en-US" sz="1200" dirty="0"/>
          </a:p>
        </p:txBody>
      </p:sp>
      <p:pic>
        <p:nvPicPr>
          <p:cNvPr id="6" name="Image 0" descr="/home/claude/day2deck/logo_ligh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6291072"/>
            <a:ext cx="384048" cy="384048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005840" y="6327648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  ·  AI CLINICAL DECISION SUPPORT LITE HACKATHON</a:t>
            </a:r>
            <a:endParaRPr lang="en-US" sz="900" dirty="0"/>
          </a:p>
        </p:txBody>
      </p:sp>
      <p:sp>
        <p:nvSpPr>
          <p:cNvPr id="8" name="Text 4"/>
          <p:cNvSpPr/>
          <p:nvPr/>
        </p:nvSpPr>
        <p:spPr>
          <a:xfrm>
            <a:off x="11274552" y="6327648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900" dirty="0"/>
          </a:p>
        </p:txBody>
      </p:sp>
      <p:pic>
        <p:nvPicPr>
          <p:cNvPr id="9" name="Google Shape;90;p1">
            <a:extLst>
              <a:ext uri="{FF2B5EF4-FFF2-40B4-BE49-F238E27FC236}">
                <a16:creationId xmlns:a16="http://schemas.microsoft.com/office/drawing/2014/main" id="{24F20B31-C69A-4E5C-B7EA-26429329B4D5}"/>
              </a:ext>
            </a:extLst>
          </p:cNvPr>
          <p:cNvPicPr preferRelativeResize="0"/>
          <p:nvPr/>
        </p:nvPicPr>
        <p:blipFill>
          <a:blip r:embed="rId4"/>
          <a:srcRect/>
          <a:stretch/>
        </p:blipFill>
        <p:spPr>
          <a:xfrm>
            <a:off x="10510684" y="-9329"/>
            <a:ext cx="1681316" cy="155349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F307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80160" y="2286000"/>
            <a:ext cx="4572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6600" b="1" dirty="0">
                <a:solidFill>
                  <a:srgbClr val="00C7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[</a:t>
            </a:r>
            <a:endParaRPr lang="en-US" sz="6600" dirty="0"/>
          </a:p>
        </p:txBody>
      </p:sp>
      <p:sp>
        <p:nvSpPr>
          <p:cNvPr id="3" name="Text 1"/>
          <p:cNvSpPr/>
          <p:nvPr/>
        </p:nvSpPr>
        <p:spPr>
          <a:xfrm>
            <a:off x="10451592" y="2286000"/>
            <a:ext cx="4572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600" b="1" dirty="0">
                <a:solidFill>
                  <a:srgbClr val="00C7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]</a:t>
            </a:r>
            <a:endParaRPr lang="en-US" sz="6600" dirty="0"/>
          </a:p>
        </p:txBody>
      </p:sp>
      <p:sp>
        <p:nvSpPr>
          <p:cNvPr id="4" name="Text 2"/>
          <p:cNvSpPr/>
          <p:nvPr/>
        </p:nvSpPr>
        <p:spPr>
          <a:xfrm>
            <a:off x="1280160" y="2423160"/>
            <a:ext cx="96286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kern="0" spc="300" dirty="0">
                <a:solidFill>
                  <a:srgbClr val="00C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4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1280160" y="2880360"/>
            <a:ext cx="962863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Explainability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2194560" y="3931920"/>
            <a:ext cx="77998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AFC6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a clinician can't see the evidence, they won't trust the answer</a:t>
            </a:r>
            <a:endParaRPr lang="en-US" sz="1400" dirty="0"/>
          </a:p>
        </p:txBody>
      </p:sp>
      <p:pic>
        <p:nvPicPr>
          <p:cNvPr id="7" name="Image 0" descr="/home/claude/day2deck/logo_dark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6291072"/>
            <a:ext cx="384048" cy="38404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005840" y="6327648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FC6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  ·  AI CLINICAL DECISION SUPPORT LITE HACKATHON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11274552" y="6327648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FC6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900" dirty="0"/>
          </a:p>
        </p:txBody>
      </p:sp>
      <p:pic>
        <p:nvPicPr>
          <p:cNvPr id="10" name="Google Shape;90;p1">
            <a:extLst>
              <a:ext uri="{FF2B5EF4-FFF2-40B4-BE49-F238E27FC236}">
                <a16:creationId xmlns:a16="http://schemas.microsoft.com/office/drawing/2014/main" id="{A9A6B748-6E7A-41E7-A3B7-64F2BCE9BDC6}"/>
              </a:ext>
            </a:extLst>
          </p:cNvPr>
          <p:cNvPicPr preferRelativeResize="0"/>
          <p:nvPr/>
        </p:nvPicPr>
        <p:blipFill>
          <a:blip r:embed="rId4"/>
          <a:srcRect/>
          <a:stretch/>
        </p:blipFill>
        <p:spPr>
          <a:xfrm>
            <a:off x="10510684" y="-9329"/>
            <a:ext cx="1681316" cy="155349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0C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4 — WHY IT MATTERS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Trust Is Built Before Generation Happens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737360"/>
            <a:ext cx="10241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Judges — and real clinicians — need to see what your system found before it answers. This isn't a nice-to-have UI feature; it's how a black-box model becomes an auditable tool.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2834640"/>
            <a:ext cx="3520440" cy="2377440"/>
          </a:xfrm>
          <a:prstGeom prst="roundRect">
            <a:avLst>
              <a:gd name="adj" fmla="val 3077"/>
            </a:avLst>
          </a:prstGeom>
          <a:solidFill>
            <a:srgbClr val="F1F5FC"/>
          </a:solidFill>
          <a:ln w="12700">
            <a:solidFill>
              <a:srgbClr val="DCE6F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3108960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F307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Debuggability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822960" y="3657600"/>
            <a:ext cx="2971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instantly see if retrieval — not generation — is the problem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343400" y="2834640"/>
            <a:ext cx="3520440" cy="2377440"/>
          </a:xfrm>
          <a:prstGeom prst="roundRect">
            <a:avLst>
              <a:gd name="adj" fmla="val 3077"/>
            </a:avLst>
          </a:prstGeom>
          <a:solidFill>
            <a:srgbClr val="F1F5FC"/>
          </a:solidFill>
          <a:ln w="12700">
            <a:solidFill>
              <a:srgbClr val="DCE6F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617720" y="3108960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F307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Clinical trust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4617720" y="3657600"/>
            <a:ext cx="2971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clinician can verify the source before acting on a recommendation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8138160" y="2834640"/>
            <a:ext cx="3520440" cy="2377440"/>
          </a:xfrm>
          <a:prstGeom prst="roundRect">
            <a:avLst>
              <a:gd name="adj" fmla="val 3077"/>
            </a:avLst>
          </a:prstGeom>
          <a:solidFill>
            <a:srgbClr val="F1F5FC"/>
          </a:solidFill>
          <a:ln w="12700">
            <a:solidFill>
              <a:srgbClr val="DCE6F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412480" y="3108960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F307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Judge visibility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8412480" y="3657600"/>
            <a:ext cx="2971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Retrieval Quality (30 pts) is easiest to demonstrate when it's visible</a:t>
            </a:r>
            <a:endParaRPr lang="en-US" sz="1250" dirty="0"/>
          </a:p>
        </p:txBody>
      </p:sp>
      <p:pic>
        <p:nvPicPr>
          <p:cNvPr id="14" name="Image 0" descr="/home/claude/day2deck/logo_ligh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6291072"/>
            <a:ext cx="384048" cy="384048"/>
          </a:xfrm>
          <a:prstGeom prst="rect">
            <a:avLst/>
          </a:prstGeom>
        </p:spPr>
      </p:pic>
      <p:sp>
        <p:nvSpPr>
          <p:cNvPr id="15" name="Text 12"/>
          <p:cNvSpPr/>
          <p:nvPr/>
        </p:nvSpPr>
        <p:spPr>
          <a:xfrm>
            <a:off x="1005840" y="6327648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  ·  AI CLINICAL DECISION SUPPORT LITE HACKATHON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11274552" y="6327648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900" dirty="0"/>
          </a:p>
        </p:txBody>
      </p:sp>
      <p:pic>
        <p:nvPicPr>
          <p:cNvPr id="17" name="Google Shape;90;p1">
            <a:extLst>
              <a:ext uri="{FF2B5EF4-FFF2-40B4-BE49-F238E27FC236}">
                <a16:creationId xmlns:a16="http://schemas.microsoft.com/office/drawing/2014/main" id="{FFE994CE-58BB-4743-8AC0-C141696BAD5F}"/>
              </a:ext>
            </a:extLst>
          </p:cNvPr>
          <p:cNvPicPr preferRelativeResize="0"/>
          <p:nvPr/>
        </p:nvPicPr>
        <p:blipFill>
          <a:blip r:embed="rId4"/>
          <a:srcRect/>
          <a:stretch/>
        </p:blipFill>
        <p:spPr>
          <a:xfrm>
            <a:off x="10510684" y="-9329"/>
            <a:ext cx="1681316" cy="155349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0C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4 — WHAT TO BUILD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Minimum Viable Explainability View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691640"/>
            <a:ext cx="10241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doesn't need to be pretty today — it needs to show three things for every query: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377440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0F307F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23774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0C7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280160" y="2331720"/>
            <a:ext cx="9966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exact text of each retrieved chunk, in ranked order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40080" y="3090672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0F307F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30906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0C7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280160" y="3044952"/>
            <a:ext cx="9966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similarity score for each chunk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640080" y="3803904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0F307F"/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" y="380390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0C7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280160" y="3758184"/>
            <a:ext cx="9966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source metadata (document, section, page) for each chunk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548640" y="470916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i="1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console log or a bare Streamlit table is enough for Day 2 — polish comes on Day 5.</a:t>
            </a:r>
            <a:endParaRPr lang="en-US" sz="1350" dirty="0"/>
          </a:p>
        </p:txBody>
      </p:sp>
      <p:pic>
        <p:nvPicPr>
          <p:cNvPr id="15" name="Image 0" descr="/home/claude/day2deck/logo_ligh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6291072"/>
            <a:ext cx="384048" cy="384048"/>
          </a:xfrm>
          <a:prstGeom prst="rect">
            <a:avLst/>
          </a:prstGeom>
        </p:spPr>
      </p:pic>
      <p:sp>
        <p:nvSpPr>
          <p:cNvPr id="16" name="Text 13"/>
          <p:cNvSpPr/>
          <p:nvPr/>
        </p:nvSpPr>
        <p:spPr>
          <a:xfrm>
            <a:off x="1005840" y="6327648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  ·  AI CLINICAL DECISION SUPPORT LITE HACKATHON</a:t>
            </a:r>
            <a:endParaRPr lang="en-US" sz="900" dirty="0"/>
          </a:p>
        </p:txBody>
      </p:sp>
      <p:sp>
        <p:nvSpPr>
          <p:cNvPr id="17" name="Text 14"/>
          <p:cNvSpPr/>
          <p:nvPr/>
        </p:nvSpPr>
        <p:spPr>
          <a:xfrm>
            <a:off x="11274552" y="6327648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900" dirty="0"/>
          </a:p>
        </p:txBody>
      </p:sp>
      <p:pic>
        <p:nvPicPr>
          <p:cNvPr id="18" name="Google Shape;90;p1">
            <a:extLst>
              <a:ext uri="{FF2B5EF4-FFF2-40B4-BE49-F238E27FC236}">
                <a16:creationId xmlns:a16="http://schemas.microsoft.com/office/drawing/2014/main" id="{0D303259-DE97-424A-8616-226A31179631}"/>
              </a:ext>
            </a:extLst>
          </p:cNvPr>
          <p:cNvPicPr preferRelativeResize="0"/>
          <p:nvPr/>
        </p:nvPicPr>
        <p:blipFill>
          <a:blip r:embed="rId4"/>
          <a:srcRect/>
          <a:stretch/>
        </p:blipFill>
        <p:spPr>
          <a:xfrm>
            <a:off x="10510684" y="-9329"/>
            <a:ext cx="1681316" cy="155349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0C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YOU START BUILDING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9144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Day 2 Competition Checklist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874520"/>
            <a:ext cx="5349240" cy="868680"/>
          </a:xfrm>
          <a:prstGeom prst="roundRect">
            <a:avLst>
              <a:gd name="adj" fmla="val 6316"/>
            </a:avLst>
          </a:prstGeom>
          <a:solidFill>
            <a:srgbClr val="F1F5FC"/>
          </a:solidFill>
          <a:ln w="12700">
            <a:solidFill>
              <a:srgbClr val="DCE6F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2075688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0F307F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207568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0C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371600" y="1874520"/>
            <a:ext cx="4343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Top-k value chosen and justified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48640" y="2926080"/>
            <a:ext cx="5349240" cy="868680"/>
          </a:xfrm>
          <a:prstGeom prst="roundRect">
            <a:avLst>
              <a:gd name="adj" fmla="val 6316"/>
            </a:avLst>
          </a:prstGeom>
          <a:solidFill>
            <a:srgbClr val="F1F5FC"/>
          </a:solidFill>
          <a:ln w="12700">
            <a:solidFill>
              <a:srgbClr val="DCE6F7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31520" y="3127248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0F307F"/>
          </a:solidFill>
          <a:ln/>
        </p:spPr>
      </p:sp>
      <p:sp>
        <p:nvSpPr>
          <p:cNvPr id="10" name="Text 8"/>
          <p:cNvSpPr/>
          <p:nvPr/>
        </p:nvSpPr>
        <p:spPr>
          <a:xfrm>
            <a:off x="731520" y="31272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0C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371600" y="2926080"/>
            <a:ext cx="4343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Chunk size / overlap experiment run and logged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48640" y="3977640"/>
            <a:ext cx="5349240" cy="868680"/>
          </a:xfrm>
          <a:prstGeom prst="roundRect">
            <a:avLst>
              <a:gd name="adj" fmla="val 6316"/>
            </a:avLst>
          </a:prstGeom>
          <a:solidFill>
            <a:srgbClr val="F1F5FC"/>
          </a:solidFill>
          <a:ln w="12700">
            <a:solidFill>
              <a:srgbClr val="DCE6F7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31520" y="4178808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0F307F"/>
          </a:solidFill>
          <a:ln/>
        </p:spPr>
      </p:sp>
      <p:sp>
        <p:nvSpPr>
          <p:cNvPr id="14" name="Text 12"/>
          <p:cNvSpPr/>
          <p:nvPr/>
        </p:nvSpPr>
        <p:spPr>
          <a:xfrm>
            <a:off x="731520" y="41788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0C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371600" y="3977640"/>
            <a:ext cx="4343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5–10 question test set built with expected chunks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263640" y="1874520"/>
            <a:ext cx="5349240" cy="868680"/>
          </a:xfrm>
          <a:prstGeom prst="roundRect">
            <a:avLst>
              <a:gd name="adj" fmla="val 6316"/>
            </a:avLst>
          </a:prstGeom>
          <a:solidFill>
            <a:srgbClr val="F1F5FC"/>
          </a:solidFill>
          <a:ln w="12700">
            <a:solidFill>
              <a:srgbClr val="DCE6F7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446520" y="2075688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0F307F"/>
          </a:solidFill>
          <a:ln/>
        </p:spPr>
      </p:sp>
      <p:sp>
        <p:nvSpPr>
          <p:cNvPr id="18" name="Text 16"/>
          <p:cNvSpPr/>
          <p:nvPr/>
        </p:nvSpPr>
        <p:spPr>
          <a:xfrm>
            <a:off x="6446520" y="207568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0C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7086600" y="1874520"/>
            <a:ext cx="4343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Precision@k computed for at least two embedding models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6263640" y="2926080"/>
            <a:ext cx="5349240" cy="868680"/>
          </a:xfrm>
          <a:prstGeom prst="roundRect">
            <a:avLst>
              <a:gd name="adj" fmla="val 6316"/>
            </a:avLst>
          </a:prstGeom>
          <a:solidFill>
            <a:srgbClr val="F1F5FC"/>
          </a:solidFill>
          <a:ln w="12700">
            <a:solidFill>
              <a:srgbClr val="DCE6F7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446520" y="3127248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0F307F"/>
          </a:solidFill>
          <a:ln/>
        </p:spPr>
      </p:sp>
      <p:sp>
        <p:nvSpPr>
          <p:cNvPr id="22" name="Text 20"/>
          <p:cNvSpPr/>
          <p:nvPr/>
        </p:nvSpPr>
        <p:spPr>
          <a:xfrm>
            <a:off x="6446520" y="31272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0C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7086600" y="2926080"/>
            <a:ext cx="4343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Retrieval scores logged and compared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6263640" y="3977640"/>
            <a:ext cx="5349240" cy="868680"/>
          </a:xfrm>
          <a:prstGeom prst="roundRect">
            <a:avLst>
              <a:gd name="adj" fmla="val 6316"/>
            </a:avLst>
          </a:prstGeom>
          <a:solidFill>
            <a:srgbClr val="F1F5FC"/>
          </a:solidFill>
          <a:ln w="12700">
            <a:solidFill>
              <a:srgbClr val="DCE6F7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446520" y="4178808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0F307F"/>
          </a:solidFill>
          <a:ln/>
        </p:spPr>
      </p:sp>
      <p:sp>
        <p:nvSpPr>
          <p:cNvPr id="26" name="Text 24"/>
          <p:cNvSpPr/>
          <p:nvPr/>
        </p:nvSpPr>
        <p:spPr>
          <a:xfrm>
            <a:off x="6446520" y="41788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0C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7086600" y="3977640"/>
            <a:ext cx="4343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Retrieved chunks visible before generation (even in a basic UI)</a:t>
            </a:r>
            <a:endParaRPr lang="en-US" sz="1250" dirty="0"/>
          </a:p>
        </p:txBody>
      </p:sp>
      <p:pic>
        <p:nvPicPr>
          <p:cNvPr id="28" name="Image 0" descr="/home/claude/day2deck/logo_ligh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6291072"/>
            <a:ext cx="384048" cy="384048"/>
          </a:xfrm>
          <a:prstGeom prst="rect">
            <a:avLst/>
          </a:prstGeom>
        </p:spPr>
      </p:pic>
      <p:sp>
        <p:nvSpPr>
          <p:cNvPr id="29" name="Text 26"/>
          <p:cNvSpPr/>
          <p:nvPr/>
        </p:nvSpPr>
        <p:spPr>
          <a:xfrm>
            <a:off x="1005840" y="6327648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  ·  AI CLINICAL DECISION SUPPORT LITE HACKATHON</a:t>
            </a:r>
            <a:endParaRPr lang="en-US" sz="900" dirty="0"/>
          </a:p>
        </p:txBody>
      </p:sp>
      <p:sp>
        <p:nvSpPr>
          <p:cNvPr id="30" name="Text 27"/>
          <p:cNvSpPr/>
          <p:nvPr/>
        </p:nvSpPr>
        <p:spPr>
          <a:xfrm>
            <a:off x="11274552" y="6327648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900" dirty="0"/>
          </a:p>
        </p:txBody>
      </p:sp>
      <p:pic>
        <p:nvPicPr>
          <p:cNvPr id="31" name="Google Shape;90;p1">
            <a:extLst>
              <a:ext uri="{FF2B5EF4-FFF2-40B4-BE49-F238E27FC236}">
                <a16:creationId xmlns:a16="http://schemas.microsoft.com/office/drawing/2014/main" id="{984EE75E-832D-49F7-A39D-6EDC1B046893}"/>
              </a:ext>
            </a:extLst>
          </p:cNvPr>
          <p:cNvPicPr preferRelativeResize="0"/>
          <p:nvPr/>
        </p:nvPicPr>
        <p:blipFill>
          <a:blip r:embed="rId4"/>
          <a:srcRect/>
          <a:stretch/>
        </p:blipFill>
        <p:spPr>
          <a:xfrm>
            <a:off x="10510684" y="-9329"/>
            <a:ext cx="1681316" cy="155349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0C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 FROM PAST COHORTS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9144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Common Day 2 Pitfalls to Avoid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874520"/>
            <a:ext cx="5349240" cy="1463040"/>
          </a:xfrm>
          <a:prstGeom prst="roundRect">
            <a:avLst>
              <a:gd name="adj" fmla="val 5000"/>
            </a:avLst>
          </a:prstGeom>
          <a:solidFill>
            <a:srgbClr val="163B95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210312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00C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371600" y="2057400"/>
            <a:ext cx="4251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Tuning without a test set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371600" y="2496312"/>
            <a:ext cx="4251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AFC6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Changing k or chunk size based on gut feeling, not measured precision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263640" y="1874520"/>
            <a:ext cx="5349240" cy="1463040"/>
          </a:xfrm>
          <a:prstGeom prst="roundRect">
            <a:avLst>
              <a:gd name="adj" fmla="val 5000"/>
            </a:avLst>
          </a:prstGeom>
          <a:solidFill>
            <a:srgbClr val="163B95"/>
          </a:solidFill>
          <a:ln/>
        </p:spPr>
      </p:sp>
      <p:sp>
        <p:nvSpPr>
          <p:cNvPr id="9" name="Text 7"/>
          <p:cNvSpPr/>
          <p:nvPr/>
        </p:nvSpPr>
        <p:spPr>
          <a:xfrm>
            <a:off x="6537960" y="210312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00C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7086600" y="2057400"/>
            <a:ext cx="4251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Cherry-picking queries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7086600" y="2496312"/>
            <a:ext cx="4251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AFC6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 only easy questions that any configuration would get right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48640" y="3566160"/>
            <a:ext cx="5349240" cy="1463040"/>
          </a:xfrm>
          <a:prstGeom prst="roundRect">
            <a:avLst>
              <a:gd name="adj" fmla="val 5000"/>
            </a:avLst>
          </a:prstGeom>
          <a:solidFill>
            <a:srgbClr val="163B95"/>
          </a:solidFill>
          <a:ln/>
        </p:spPr>
      </p:sp>
      <p:sp>
        <p:nvSpPr>
          <p:cNvPr id="13" name="Text 11"/>
          <p:cNvSpPr/>
          <p:nvPr/>
        </p:nvSpPr>
        <p:spPr>
          <a:xfrm>
            <a:off x="822960" y="379476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00C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1371600" y="3749040"/>
            <a:ext cx="4251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Comparing on 1 metric alone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371600" y="4187952"/>
            <a:ext cx="4251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AFC6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Ignoring latency and cost when only precision looks good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263640" y="3566160"/>
            <a:ext cx="5349240" cy="1463040"/>
          </a:xfrm>
          <a:prstGeom prst="roundRect">
            <a:avLst>
              <a:gd name="adj" fmla="val 5000"/>
            </a:avLst>
          </a:prstGeom>
          <a:solidFill>
            <a:srgbClr val="163B95"/>
          </a:solidFill>
          <a:ln/>
        </p:spPr>
      </p:sp>
      <p:sp>
        <p:nvSpPr>
          <p:cNvPr id="17" name="Text 15"/>
          <p:cNvSpPr/>
          <p:nvPr/>
        </p:nvSpPr>
        <p:spPr>
          <a:xfrm>
            <a:off x="6537960" y="379476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00C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7086600" y="3749040"/>
            <a:ext cx="4251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Hiding retrieval from the demo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7086600" y="4187952"/>
            <a:ext cx="4251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AFC6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showing the final answer, never the evidence behind it</a:t>
            </a:r>
            <a:endParaRPr lang="en-US" sz="1200" dirty="0"/>
          </a:p>
        </p:txBody>
      </p:sp>
      <p:pic>
        <p:nvPicPr>
          <p:cNvPr id="20" name="Image 0" descr="/home/claude/day2deck/logo_ligh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6291072"/>
            <a:ext cx="384048" cy="384048"/>
          </a:xfrm>
          <a:prstGeom prst="rect">
            <a:avLst/>
          </a:prstGeom>
        </p:spPr>
      </p:pic>
      <p:sp>
        <p:nvSpPr>
          <p:cNvPr id="21" name="Text 18"/>
          <p:cNvSpPr/>
          <p:nvPr/>
        </p:nvSpPr>
        <p:spPr>
          <a:xfrm>
            <a:off x="1005840" y="6327648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  ·  AI CLINICAL DECISION SUPPORT LITE HACKATHON</a:t>
            </a:r>
            <a:endParaRPr lang="en-US" sz="900" dirty="0"/>
          </a:p>
        </p:txBody>
      </p:sp>
      <p:sp>
        <p:nvSpPr>
          <p:cNvPr id="22" name="Text 19"/>
          <p:cNvSpPr/>
          <p:nvPr/>
        </p:nvSpPr>
        <p:spPr>
          <a:xfrm>
            <a:off x="11274552" y="6327648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900" dirty="0"/>
          </a:p>
        </p:txBody>
      </p:sp>
      <p:pic>
        <p:nvPicPr>
          <p:cNvPr id="23" name="Google Shape;90;p1">
            <a:extLst>
              <a:ext uri="{FF2B5EF4-FFF2-40B4-BE49-F238E27FC236}">
                <a16:creationId xmlns:a16="http://schemas.microsoft.com/office/drawing/2014/main" id="{AF4E2A3F-80A5-4E72-953D-0D7BD5077663}"/>
              </a:ext>
            </a:extLst>
          </p:cNvPr>
          <p:cNvPicPr preferRelativeResize="0"/>
          <p:nvPr/>
        </p:nvPicPr>
        <p:blipFill>
          <a:blip r:embed="rId4"/>
          <a:srcRect/>
          <a:stretch/>
        </p:blipFill>
        <p:spPr>
          <a:xfrm>
            <a:off x="10510684" y="-9329"/>
            <a:ext cx="1681316" cy="155349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0C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DEFINITION OF DONE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9601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“Done” Looks Like at the End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920240"/>
            <a:ext cx="10881360" cy="3566160"/>
          </a:xfrm>
          <a:prstGeom prst="roundRect">
            <a:avLst>
              <a:gd name="adj" fmla="val 2051"/>
            </a:avLst>
          </a:prstGeom>
          <a:solidFill>
            <a:srgbClr val="F1F5FC"/>
          </a:solidFill>
          <a:ln w="12700">
            <a:solidFill>
              <a:srgbClr val="DCE6F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14400" y="2286000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00C7FF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22860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F307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554480" y="2240280"/>
            <a:ext cx="9509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tuned top-k and chunking configuration backed by logged experiment results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914400" y="3063240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00C7FF"/>
          </a:solidFill>
          <a:ln/>
        </p:spPr>
      </p:sp>
      <p:sp>
        <p:nvSpPr>
          <p:cNvPr id="9" name="Text 7"/>
          <p:cNvSpPr/>
          <p:nvPr/>
        </p:nvSpPr>
        <p:spPr>
          <a:xfrm>
            <a:off x="914400" y="30632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F307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554480" y="3017520"/>
            <a:ext cx="9509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Precision@k scores for at least two embedding models, with a documented choice</a:t>
            </a:r>
            <a:endParaRPr lang="en-US" sz="1450" dirty="0"/>
          </a:p>
        </p:txBody>
      </p:sp>
      <p:sp>
        <p:nvSpPr>
          <p:cNvPr id="11" name="Shape 9"/>
          <p:cNvSpPr/>
          <p:nvPr/>
        </p:nvSpPr>
        <p:spPr>
          <a:xfrm>
            <a:off x="914400" y="3840480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00C7FF"/>
          </a:solidFill>
          <a:ln/>
        </p:spPr>
      </p:sp>
      <p:sp>
        <p:nvSpPr>
          <p:cNvPr id="12" name="Text 10"/>
          <p:cNvSpPr/>
          <p:nvPr/>
        </p:nvSpPr>
        <p:spPr>
          <a:xfrm>
            <a:off x="914400" y="3840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F307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554480" y="3794760"/>
            <a:ext cx="9509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basic explainability view showing retrieved chunks, scores, and citations</a:t>
            </a:r>
            <a:endParaRPr lang="en-US" sz="1450" dirty="0"/>
          </a:p>
        </p:txBody>
      </p:sp>
      <p:sp>
        <p:nvSpPr>
          <p:cNvPr id="14" name="Shape 12"/>
          <p:cNvSpPr/>
          <p:nvPr/>
        </p:nvSpPr>
        <p:spPr>
          <a:xfrm>
            <a:off x="914400" y="4617720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00C7FF"/>
          </a:solidFill>
          <a:ln/>
        </p:spPr>
      </p:sp>
      <p:sp>
        <p:nvSpPr>
          <p:cNvPr id="15" name="Text 13"/>
          <p:cNvSpPr/>
          <p:nvPr/>
        </p:nvSpPr>
        <p:spPr>
          <a:xfrm>
            <a:off x="914400" y="46177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F307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554480" y="4572000"/>
            <a:ext cx="9509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Confidence that tomorrow's generation work has trustworthy, provably-good retrieval underneath it</a:t>
            </a:r>
            <a:endParaRPr lang="en-US" sz="1450" dirty="0"/>
          </a:p>
        </p:txBody>
      </p:sp>
      <p:pic>
        <p:nvPicPr>
          <p:cNvPr id="17" name="Image 0" descr="/home/claude/day2deck/logo_ligh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6291072"/>
            <a:ext cx="384048" cy="384048"/>
          </a:xfrm>
          <a:prstGeom prst="rect">
            <a:avLst/>
          </a:prstGeom>
        </p:spPr>
      </p:pic>
      <p:sp>
        <p:nvSpPr>
          <p:cNvPr id="18" name="Text 15"/>
          <p:cNvSpPr/>
          <p:nvPr/>
        </p:nvSpPr>
        <p:spPr>
          <a:xfrm>
            <a:off x="1005840" y="6327648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  ·  AI CLINICAL DECISION SUPPORT LITE HACKATHON</a:t>
            </a:r>
            <a:endParaRPr lang="en-US" sz="900" dirty="0"/>
          </a:p>
        </p:txBody>
      </p:sp>
      <p:sp>
        <p:nvSpPr>
          <p:cNvPr id="19" name="Text 16"/>
          <p:cNvSpPr/>
          <p:nvPr/>
        </p:nvSpPr>
        <p:spPr>
          <a:xfrm>
            <a:off x="11274552" y="6327648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900" dirty="0"/>
          </a:p>
        </p:txBody>
      </p:sp>
      <p:pic>
        <p:nvPicPr>
          <p:cNvPr id="20" name="Google Shape;90;p1">
            <a:extLst>
              <a:ext uri="{FF2B5EF4-FFF2-40B4-BE49-F238E27FC236}">
                <a16:creationId xmlns:a16="http://schemas.microsoft.com/office/drawing/2014/main" id="{A62AC072-BE99-4A23-8690-613695E98E42}"/>
              </a:ext>
            </a:extLst>
          </p:cNvPr>
          <p:cNvPicPr preferRelativeResize="0"/>
          <p:nvPr/>
        </p:nvPicPr>
        <p:blipFill>
          <a:blip r:embed="rId4"/>
          <a:srcRect/>
          <a:stretch/>
        </p:blipFill>
        <p:spPr>
          <a:xfrm>
            <a:off x="10510684" y="-9329"/>
            <a:ext cx="1681316" cy="155349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0F307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day2deck/logo_dark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13248" y="822960"/>
            <a:ext cx="1371600" cy="1371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737360" y="2743200"/>
            <a:ext cx="457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840" b="1" dirty="0">
                <a:solidFill>
                  <a:srgbClr val="00C7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[</a:t>
            </a:r>
            <a:endParaRPr lang="en-US" sz="4840" dirty="0"/>
          </a:p>
        </p:txBody>
      </p:sp>
      <p:sp>
        <p:nvSpPr>
          <p:cNvPr id="4" name="Text 1"/>
          <p:cNvSpPr/>
          <p:nvPr/>
        </p:nvSpPr>
        <p:spPr>
          <a:xfrm>
            <a:off x="9994392" y="2743200"/>
            <a:ext cx="457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4840" b="1" dirty="0">
                <a:solidFill>
                  <a:srgbClr val="00C7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]</a:t>
            </a:r>
            <a:endParaRPr lang="en-US" sz="4840" dirty="0"/>
          </a:p>
        </p:txBody>
      </p:sp>
      <p:sp>
        <p:nvSpPr>
          <p:cNvPr id="5" name="Text 2"/>
          <p:cNvSpPr/>
          <p:nvPr/>
        </p:nvSpPr>
        <p:spPr>
          <a:xfrm>
            <a:off x="1737360" y="2834640"/>
            <a:ext cx="871423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Tuned to Trusted</a:t>
            </a:r>
            <a:endParaRPr lang="en-US" sz="3800" dirty="0"/>
          </a:p>
        </p:txBody>
      </p:sp>
      <p:sp>
        <p:nvSpPr>
          <p:cNvPr id="6" name="Text 3"/>
          <p:cNvSpPr/>
          <p:nvPr/>
        </p:nvSpPr>
        <p:spPr>
          <a:xfrm>
            <a:off x="1737360" y="3703320"/>
            <a:ext cx="87142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AFC6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closes </a:t>
            </a:r>
            <a:r>
              <a:rPr lang="en-US" sz="1500">
                <a:solidFill>
                  <a:srgbClr val="AFC6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01:00 </a:t>
            </a:r>
            <a:r>
              <a:rPr lang="en-US" sz="1500" dirty="0">
                <a:solidFill>
                  <a:srgbClr val="AFC6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the competition clock starts immediately after.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1737360" y="4206240"/>
            <a:ext cx="87142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AFC6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Questions? Find your Module trainer before you head to your team table.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1737360" y="6126480"/>
            <a:ext cx="87142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kern="0" spc="100" dirty="0">
                <a:solidFill>
                  <a:srgbClr val="AFC6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Clinical Decision Support Lite Hackathon  ·  Day 2  ·  Instant</a:t>
            </a:r>
            <a:endParaRPr lang="en-US" sz="1100" dirty="0"/>
          </a:p>
        </p:txBody>
      </p:sp>
      <p:pic>
        <p:nvPicPr>
          <p:cNvPr id="9" name="Google Shape;90;p1">
            <a:extLst>
              <a:ext uri="{FF2B5EF4-FFF2-40B4-BE49-F238E27FC236}">
                <a16:creationId xmlns:a16="http://schemas.microsoft.com/office/drawing/2014/main" id="{F1F04807-520D-4B88-ADFD-364B9F16FCCD}"/>
              </a:ext>
            </a:extLst>
          </p:cNvPr>
          <p:cNvPicPr preferRelativeResize="0"/>
          <p:nvPr/>
        </p:nvPicPr>
        <p:blipFill>
          <a:blip r:embed="rId4"/>
          <a:srcRect/>
          <a:stretch/>
        </p:blipFill>
        <p:spPr>
          <a:xfrm>
            <a:off x="10510684" y="-9329"/>
            <a:ext cx="1681316" cy="155349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1725</Words>
  <Application>Microsoft Office PowerPoint</Application>
  <PresentationFormat>Widescreen</PresentationFormat>
  <Paragraphs>345</Paragraphs>
  <Slides>25</Slides>
  <Notes>25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9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Abdallah Wagih</cp:lastModifiedBy>
  <cp:revision>6</cp:revision>
  <dcterms:created xsi:type="dcterms:W3CDTF">2026-08-09T06:33:37Z</dcterms:created>
  <dcterms:modified xsi:type="dcterms:W3CDTF">2026-08-09T07:04:16Z</dcterms:modified>
</cp:coreProperties>
</file>